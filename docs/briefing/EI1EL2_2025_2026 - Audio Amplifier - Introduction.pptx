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1"/>
  </p:notesMasterIdLst>
  <p:sldIdLst>
    <p:sldId id="312" r:id="rId2"/>
    <p:sldId id="325" r:id="rId3"/>
    <p:sldId id="326" r:id="rId4"/>
    <p:sldId id="327" r:id="rId5"/>
    <p:sldId id="328" r:id="rId6"/>
    <p:sldId id="348" r:id="rId7"/>
    <p:sldId id="332" r:id="rId8"/>
    <p:sldId id="329" r:id="rId9"/>
    <p:sldId id="330" r:id="rId10"/>
    <p:sldId id="342" r:id="rId11"/>
    <p:sldId id="350" r:id="rId12"/>
    <p:sldId id="331" r:id="rId13"/>
    <p:sldId id="346" r:id="rId14"/>
    <p:sldId id="333" r:id="rId15"/>
    <p:sldId id="341" r:id="rId16"/>
    <p:sldId id="334" r:id="rId17"/>
    <p:sldId id="349" r:id="rId18"/>
    <p:sldId id="335" r:id="rId19"/>
    <p:sldId id="336" r:id="rId20"/>
    <p:sldId id="347" r:id="rId21"/>
    <p:sldId id="338" r:id="rId22"/>
    <p:sldId id="351" r:id="rId23"/>
    <p:sldId id="352" r:id="rId24"/>
    <p:sldId id="353" r:id="rId25"/>
    <p:sldId id="343" r:id="rId26"/>
    <p:sldId id="340" r:id="rId27"/>
    <p:sldId id="337" r:id="rId28"/>
    <p:sldId id="324" r:id="rId29"/>
    <p:sldId id="339" r:id="rId30"/>
  </p:sldIdLst>
  <p:sldSz cx="9144000" cy="5143500" type="screen16x9"/>
  <p:notesSz cx="6858000" cy="9144000"/>
  <p:custDataLst>
    <p:tags r:id="rId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008F"/>
    <a:srgbClr val="A626AA"/>
    <a:srgbClr val="7426AA"/>
    <a:srgbClr val="742671"/>
    <a:srgbClr val="C900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21" autoAdjust="0"/>
    <p:restoredTop sz="78429" autoAdjust="0"/>
  </p:normalViewPr>
  <p:slideViewPr>
    <p:cSldViewPr snapToGrid="0" snapToObjects="1">
      <p:cViewPr varScale="1">
        <p:scale>
          <a:sx n="105" d="100"/>
          <a:sy n="105" d="100"/>
        </p:scale>
        <p:origin x="108" y="109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notesViewPr>
    <p:cSldViewPr snapToGrid="0" snapToObjects="1">
      <p:cViewPr varScale="1">
        <p:scale>
          <a:sx n="82" d="100"/>
          <a:sy n="82" d="100"/>
        </p:scale>
        <p:origin x="191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Adjei (Student)" userId="e84b87ef-2bce-46a4-8d66-6a0afd94fa8a" providerId="ADAL" clId="{4AC7F15E-46D8-46C0-9C92-B121B207C082}"/>
    <pc:docChg chg="modSld sldOrd">
      <pc:chgData name="Isaac Adjei (Student)" userId="e84b87ef-2bce-46a4-8d66-6a0afd94fa8a" providerId="ADAL" clId="{4AC7F15E-46D8-46C0-9C92-B121B207C082}" dt="2026-01-22T05:20:46.565" v="2"/>
      <pc:docMkLst>
        <pc:docMk/>
      </pc:docMkLst>
      <pc:sldChg chg="modSp mod ord">
        <pc:chgData name="Isaac Adjei (Student)" userId="e84b87ef-2bce-46a4-8d66-6a0afd94fa8a" providerId="ADAL" clId="{4AC7F15E-46D8-46C0-9C92-B121B207C082}" dt="2026-01-22T05:20:46.565" v="2"/>
        <pc:sldMkLst>
          <pc:docMk/>
          <pc:sldMk cId="0" sldId="325"/>
        </pc:sldMkLst>
        <pc:spChg chg="mod">
          <ac:chgData name="Isaac Adjei (Student)" userId="e84b87ef-2bce-46a4-8d66-6a0afd94fa8a" providerId="ADAL" clId="{4AC7F15E-46D8-46C0-9C92-B121B207C082}" dt="2026-01-22T05:18:48.167" v="0" actId="1076"/>
          <ac:spMkLst>
            <pc:docMk/>
            <pc:sldMk cId="0" sldId="325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828EFF-3BDC-7C49-A0E6-4ED47A23066A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86A7A-4562-C041-A0B9-FBAC0B1196AC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8760" indent="-238760">
              <a:buFont typeface="+mj-lt"/>
              <a:buAutoNum type="arabicPeriod"/>
            </a:pPr>
            <a:r>
              <a:rPr lang="en-GB" dirty="0"/>
              <a:t>Connect an audio amplifier and show on working.</a:t>
            </a:r>
          </a:p>
          <a:p>
            <a:pPr marL="238760" indent="-238760">
              <a:buFont typeface="+mj-lt"/>
              <a:buAutoNum type="arabicPeriod"/>
            </a:pPr>
            <a:r>
              <a:rPr lang="en-GB" dirty="0"/>
              <a:t>Kick-off individual project which is designing an audio amplifier</a:t>
            </a:r>
          </a:p>
          <a:p>
            <a:pPr marL="238760" indent="-238760">
              <a:buFont typeface="+mj-lt"/>
              <a:buAutoNum type="arabicPeriod"/>
            </a:pPr>
            <a:r>
              <a:rPr lang="en-GB" dirty="0"/>
              <a:t>Here’s one I made earlier.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86A7A-4562-C041-A0B9-FBAC0B1196AC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reason we will make a two-stage amplifier (apart from making the design more interesting for you), is we</a:t>
            </a:r>
            <a:r>
              <a:rPr lang="en-US" altLang="en-US" baseline="0" dirty="0">
                <a:latin typeface="Arial" panose="020B0604020202020204" pitchFamily="34" charset="0"/>
                <a:cs typeface="Arial" panose="020B0604020202020204" pitchFamily="34" charset="0"/>
              </a:rPr>
              <a:t> will use the TL071 voltage amplifier as the pre-amplifier input.</a:t>
            </a:r>
          </a:p>
          <a:p>
            <a:pPr marL="228600" indent="-228600" eaLnBrk="1" hangingPunct="1">
              <a:buFont typeface="+mj-lt"/>
              <a:buAutoNum type="arabicPeriod"/>
            </a:pPr>
            <a:r>
              <a:rPr lang="en-US" altLang="en-US" baseline="0" dirty="0">
                <a:latin typeface="Arial" panose="020B0604020202020204" pitchFamily="34" charset="0"/>
                <a:cs typeface="Arial" panose="020B0604020202020204" pitchFamily="34" charset="0"/>
              </a:rPr>
              <a:t>If you connect this directly to a speaker, then it sounds terrible.</a:t>
            </a:r>
          </a:p>
          <a:p>
            <a:pPr marL="228600" indent="-228600" eaLnBrk="1" hangingPunct="1">
              <a:buFont typeface="+mj-lt"/>
              <a:buAutoNum type="arabicPeriod"/>
            </a:pPr>
            <a:r>
              <a:rPr lang="en-US" altLang="en-US" baseline="0" dirty="0">
                <a:latin typeface="Arial" panose="020B0604020202020204" pitchFamily="34" charset="0"/>
                <a:cs typeface="Arial" panose="020B0604020202020204" pitchFamily="34" charset="0"/>
              </a:rPr>
              <a:t>Reason, it can’t provide enough current.</a:t>
            </a:r>
          </a:p>
          <a:p>
            <a:pPr marL="228600" indent="-228600" eaLnBrk="1" hangingPunct="1">
              <a:buFont typeface="+mj-lt"/>
              <a:buAutoNum type="arabicPeriod"/>
            </a:pPr>
            <a:r>
              <a:rPr lang="en-US" altLang="en-US" baseline="0" dirty="0">
                <a:latin typeface="Arial" panose="020B0604020202020204" pitchFamily="34" charset="0"/>
                <a:cs typeface="Arial" panose="020B0604020202020204" pitchFamily="34" charset="0"/>
              </a:rPr>
              <a:t>Buffer amplifier beefs up current to drive speakers.</a:t>
            </a:r>
          </a:p>
          <a:p>
            <a:pPr eaLnBrk="1" hangingPunct="1"/>
            <a:endParaRPr lang="en-US" altLang="en-US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86A7A-4562-C041-A0B9-FBAC0B1196AC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8760" indent="-238760">
              <a:buFont typeface="+mj-lt"/>
              <a:buAutoNum type="arabicPeriod"/>
            </a:pPr>
            <a:r>
              <a:rPr lang="en-GB" dirty="0"/>
              <a:t>Everybody should come up with there own design.</a:t>
            </a:r>
          </a:p>
          <a:p>
            <a:pPr marL="238760" indent="-238760">
              <a:buFont typeface="+mj-lt"/>
              <a:buAutoNum type="arabicPeriod"/>
            </a:pPr>
            <a:r>
              <a:rPr lang="en-GB" dirty="0"/>
              <a:t>Two designs the same, and we will split your mark. DO YOU OWN DESIGN. Easy to spot.</a:t>
            </a:r>
          </a:p>
          <a:p>
            <a:pPr marL="238760" indent="-238760">
              <a:buFont typeface="+mj-lt"/>
              <a:buAutoNum type="arabicPeriod"/>
            </a:pPr>
            <a:r>
              <a:rPr lang="en-GB" dirty="0"/>
              <a:t>Talk to each other,</a:t>
            </a:r>
            <a:r>
              <a:rPr lang="en-GB" baseline="0" dirty="0"/>
              <a:t> that’s ok.</a:t>
            </a:r>
          </a:p>
          <a:p>
            <a:pPr marL="238760" indent="-238760">
              <a:buFont typeface="+mj-lt"/>
              <a:buAutoNum type="arabicPeriod"/>
            </a:pPr>
            <a:r>
              <a:rPr lang="en-GB" baseline="0" dirty="0"/>
              <a:t>You will start with slightly different values.</a:t>
            </a:r>
          </a:p>
          <a:p>
            <a:pPr marL="238760" indent="-238760">
              <a:buFont typeface="+mj-lt"/>
              <a:buAutoNum type="arabicPeriod"/>
            </a:pPr>
            <a:r>
              <a:rPr lang="en-GB" baseline="0" dirty="0"/>
              <a:t>Converge to a very similar design</a:t>
            </a:r>
          </a:p>
          <a:p>
            <a:pPr marL="238760" indent="-238760">
              <a:buFont typeface="+mj-lt"/>
              <a:buAutoNum type="arabicPeriod"/>
            </a:pPr>
            <a:r>
              <a:rPr lang="en-GB" baseline="0" dirty="0"/>
              <a:t>We don’t won’t the exactly same design.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86A7A-4562-C041-A0B9-FBAC0B1196AC}" type="slidenum">
              <a:rPr lang="en-GB" smtClean="0"/>
              <a:t>3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8760" indent="-238760">
              <a:buFont typeface="+mj-lt"/>
              <a:buAutoNum type="arabicPeriod"/>
            </a:pPr>
            <a:r>
              <a:rPr lang="en-GB" baseline="0" dirty="0"/>
              <a:t>Some comments from Employers</a:t>
            </a:r>
          </a:p>
          <a:p>
            <a:pPr marL="238760" indent="-238760">
              <a:buFont typeface="+mj-lt"/>
              <a:buAutoNum type="arabicPeriod"/>
            </a:pPr>
            <a:r>
              <a:rPr lang="en-GB" baseline="0" dirty="0"/>
              <a:t>Employers want: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Hands on experience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start with basic brief and go through process of developing something and testing it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Use key equipment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Record what you are doing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Placement student leave after 12 months and hand over to new students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Interest in electronics. A lot of universities will have students watching lectures and know details of lots of op-amp circuits, but won’t be able to build one.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They are much more interested in people building something. You can look the circuits up.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86A7A-4562-C041-A0B9-FBAC0B1196AC}" type="slidenum">
              <a:rPr lang="en-GB" smtClean="0"/>
              <a:t>4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System diagram</a:t>
            </a:r>
          </a:p>
          <a:p>
            <a:r>
              <a:rPr lang="en-GB" dirty="0"/>
              <a:t>What goes</a:t>
            </a:r>
            <a:r>
              <a:rPr lang="en-GB" baseline="0" dirty="0"/>
              <a:t> around the amplifier</a:t>
            </a:r>
          </a:p>
          <a:p>
            <a:endParaRPr lang="en-GB" baseline="0" dirty="0"/>
          </a:p>
          <a:p>
            <a:r>
              <a:rPr lang="en-GB" baseline="0" dirty="0"/>
              <a:t>Inputs from your phone (Left and right stereo signal)</a:t>
            </a:r>
          </a:p>
          <a:p>
            <a:endParaRPr lang="en-GB" baseline="0" dirty="0"/>
          </a:p>
          <a:p>
            <a:pPr marL="238760" indent="-238760">
              <a:buFont typeface="+mj-lt"/>
              <a:buAutoNum type="arabicPeriod"/>
            </a:pPr>
            <a:r>
              <a:rPr lang="en-GB" baseline="0" dirty="0"/>
              <a:t>What Controls?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Volume (possibly, but included on phone)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Treble/Bass (could be included)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On/off switch</a:t>
            </a:r>
          </a:p>
          <a:p>
            <a:pPr marL="238760" indent="-238760">
              <a:buFont typeface="+mj-lt"/>
              <a:buAutoNum type="arabicPeriod"/>
            </a:pPr>
            <a:endParaRPr lang="en-GB" baseline="0" dirty="0"/>
          </a:p>
          <a:p>
            <a:pPr marL="238760" indent="-238760">
              <a:buFont typeface="+mj-lt"/>
              <a:buAutoNum type="arabicPeriod"/>
            </a:pPr>
            <a:r>
              <a:rPr lang="en-GB" baseline="0" dirty="0"/>
              <a:t>Outputs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What comes out?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We won’t worry about Stereo, we will just use mono.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Most speakers are 8ohms, if different you will need to take this into account</a:t>
            </a:r>
          </a:p>
          <a:p>
            <a:pPr marL="238760" indent="-238760">
              <a:buFont typeface="+mj-lt"/>
              <a:buAutoNum type="arabicPeriod"/>
            </a:pPr>
            <a:endParaRPr lang="en-GB" baseline="0" dirty="0"/>
          </a:p>
          <a:p>
            <a:pPr marL="238760" indent="-238760">
              <a:buFont typeface="+mj-lt"/>
              <a:buAutoNum type="arabicPeriod"/>
            </a:pPr>
            <a:r>
              <a:rPr lang="en-GB" baseline="0" dirty="0"/>
              <a:t>Casing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Think about this at the start. Important to include mounting holes in design.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Could use prototype mounting box that have slots the pcb can fit into, but need to be correct size.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86A7A-4562-C041-A0B9-FBAC0B1196AC}" type="slidenum">
              <a:rPr lang="en-GB" smtClean="0"/>
              <a:t>7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8760" indent="-238760">
              <a:buFont typeface="+mj-lt"/>
              <a:buAutoNum type="arabicPeriod"/>
            </a:pPr>
            <a:r>
              <a:rPr lang="en-GB" dirty="0"/>
              <a:t>This is your amplifier, it has two stages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dirty="0"/>
              <a:t>TL071</a:t>
            </a:r>
            <a:r>
              <a:rPr lang="en-GB" baseline="0" dirty="0"/>
              <a:t> which gives voltage gain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OPA551 which gives current gain</a:t>
            </a:r>
          </a:p>
          <a:p>
            <a:pPr marL="238760" indent="-238760">
              <a:buFont typeface="+mj-lt"/>
              <a:buAutoNum type="arabicPeriod"/>
            </a:pPr>
            <a:r>
              <a:rPr lang="en-GB" baseline="0" dirty="0"/>
              <a:t>Voltage in from MP3</a:t>
            </a:r>
          </a:p>
          <a:p>
            <a:pPr marL="238760" indent="-238760">
              <a:buFont typeface="+mj-lt"/>
              <a:buAutoNum type="arabicPeriod"/>
            </a:pPr>
            <a:r>
              <a:rPr lang="en-GB" baseline="0" dirty="0"/>
              <a:t>Power in to IC (9V)</a:t>
            </a:r>
          </a:p>
          <a:p>
            <a:pPr marL="238760" indent="-238760">
              <a:buFont typeface="+mj-lt"/>
              <a:buAutoNum type="arabicPeriod"/>
            </a:pPr>
            <a:r>
              <a:rPr lang="en-GB" baseline="0" dirty="0"/>
              <a:t>Voltage out to speaker.</a:t>
            </a:r>
          </a:p>
          <a:p>
            <a:pPr marL="238760" indent="-238760">
              <a:buFont typeface="+mj-lt"/>
              <a:buAutoNum type="arabicPeriod"/>
            </a:pPr>
            <a:r>
              <a:rPr lang="en-GB" baseline="0" dirty="0"/>
              <a:t>You will have a Gain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Set by amplifiers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Limited +/- 3V from supply rails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Total amount of current from OPA551</a:t>
            </a:r>
          </a:p>
          <a:p>
            <a:pPr marL="716915" lvl="1" indent="-238760">
              <a:buFont typeface="+mj-lt"/>
              <a:buAutoNum type="arabicPeriod"/>
            </a:pPr>
            <a:endParaRPr lang="en-GB" baseline="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86A7A-4562-C041-A0B9-FBAC0B1196AC}" type="slidenum">
              <a:rPr lang="en-GB" smtClean="0"/>
              <a:t>8</a:t>
            </a:fld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GB" dirty="0"/>
              <a:t>These</a:t>
            </a:r>
            <a:r>
              <a:rPr lang="en-GB" baseline="0" dirty="0"/>
              <a:t> slides should be familiar (EE1FUN)</a:t>
            </a:r>
          </a:p>
          <a:p>
            <a:pPr marL="228600" indent="-228600">
              <a:buFont typeface="+mj-lt"/>
              <a:buAutoNum type="arabicPeriod"/>
            </a:pPr>
            <a:r>
              <a:rPr lang="en-GB" baseline="0" dirty="0"/>
              <a:t>Lower cut-off approx. 5-15Hz and upper cut-off 25-45kHz</a:t>
            </a:r>
          </a:p>
          <a:p>
            <a:pPr marL="228600" indent="-228600">
              <a:buFont typeface="+mj-lt"/>
              <a:buAutoNum type="arabicPeriod"/>
            </a:pPr>
            <a:r>
              <a:rPr lang="en-GB" baseline="0" dirty="0"/>
              <a:t>Flat gain (voltage gain 3 to 30dB)</a:t>
            </a:r>
          </a:p>
          <a:p>
            <a:pPr marL="228600" indent="-228600">
              <a:buFont typeface="+mj-lt"/>
              <a:buAutoNum type="arabicPeriod"/>
            </a:pPr>
            <a:r>
              <a:rPr lang="en-GB" baseline="0" dirty="0"/>
              <a:t>Remember which capacitors and resisters correspond to which cut-off frequency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86A7A-4562-C041-A0B9-FBAC0B1196AC}" type="slidenum">
              <a:rPr lang="en-GB" smtClean="0"/>
              <a:t>9</a:t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Some starting points on blackboard</a:t>
            </a:r>
          </a:p>
          <a:p>
            <a:r>
              <a:rPr lang="en-GB" dirty="0"/>
              <a:t>Column for:</a:t>
            </a:r>
          </a:p>
          <a:p>
            <a:pPr marL="179070" indent="-179070">
              <a:buFont typeface="Arial" panose="020B0604020202020204" pitchFamily="34" charset="0"/>
              <a:buChar char="•"/>
            </a:pPr>
            <a:r>
              <a:rPr lang="en-GB" dirty="0"/>
              <a:t>Input resister in </a:t>
            </a:r>
            <a:r>
              <a:rPr lang="en-GB" dirty="0" err="1"/>
              <a:t>kohms</a:t>
            </a:r>
            <a:endParaRPr lang="en-GB" dirty="0"/>
          </a:p>
          <a:p>
            <a:pPr marL="179070" indent="-179070">
              <a:buFont typeface="Arial" panose="020B0604020202020204" pitchFamily="34" charset="0"/>
              <a:buChar char="•"/>
            </a:pPr>
            <a:r>
              <a:rPr lang="en-GB" dirty="0"/>
              <a:t>Low-pass filter in kHz</a:t>
            </a:r>
            <a:r>
              <a:rPr lang="en-GB" baseline="0" dirty="0"/>
              <a:t> (high-side)</a:t>
            </a:r>
          </a:p>
          <a:p>
            <a:pPr marL="179070" indent="-179070">
              <a:buFont typeface="Arial" panose="020B0604020202020204" pitchFamily="34" charset="0"/>
              <a:buChar char="•"/>
            </a:pPr>
            <a:r>
              <a:rPr lang="en-GB" baseline="0" dirty="0"/>
              <a:t>Feedback resister in </a:t>
            </a:r>
            <a:r>
              <a:rPr lang="en-GB" baseline="0" dirty="0" err="1"/>
              <a:t>kohms</a:t>
            </a:r>
            <a:endParaRPr lang="en-GB" baseline="0" dirty="0"/>
          </a:p>
          <a:p>
            <a:pPr marL="179070" indent="-179070">
              <a:buFont typeface="Arial" panose="020B0604020202020204" pitchFamily="34" charset="0"/>
              <a:buChar char="•"/>
            </a:pPr>
            <a:r>
              <a:rPr lang="en-GB" baseline="0" dirty="0"/>
              <a:t>High-pass filter in Hz (Low side)</a:t>
            </a:r>
          </a:p>
          <a:p>
            <a:endParaRPr lang="en-GB" baseline="0" dirty="0"/>
          </a:p>
          <a:p>
            <a:pPr marL="238760" indent="-238760">
              <a:buFont typeface="+mj-lt"/>
              <a:buAutoNum type="arabicPeriod"/>
            </a:pPr>
            <a:r>
              <a:rPr lang="en-GB" baseline="0" dirty="0"/>
              <a:t>We have given everybody two of the four parameters.</a:t>
            </a:r>
          </a:p>
          <a:p>
            <a:pPr marL="238760" indent="-238760">
              <a:buFont typeface="+mj-lt"/>
              <a:buAutoNum type="arabicPeriod"/>
            </a:pPr>
            <a:r>
              <a:rPr lang="en-GB" baseline="0" dirty="0"/>
              <a:t>This is how we guarantee that you have slightly different designs</a:t>
            </a:r>
          </a:p>
          <a:p>
            <a:pPr marL="238760" indent="-238760">
              <a:buFont typeface="+mj-lt"/>
              <a:buAutoNum type="arabicPeriod"/>
            </a:pPr>
            <a:r>
              <a:rPr lang="en-GB" baseline="0" dirty="0"/>
              <a:t>This is what I will be marking against.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86A7A-4562-C041-A0B9-FBAC0B1196AC}" type="slidenum">
              <a:rPr lang="en-GB" smtClean="0"/>
              <a:t>10</a:t>
            </a:fld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F2EC6-51A4-81C8-0358-B490F8EFB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3B4F7-BAF0-5571-E3F5-694FA04A3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58178-FD7E-F157-E4E0-57202CCEB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Some starting points on blackboard</a:t>
            </a:r>
          </a:p>
          <a:p>
            <a:r>
              <a:rPr lang="en-GB" dirty="0"/>
              <a:t>Column for:</a:t>
            </a:r>
          </a:p>
          <a:p>
            <a:pPr marL="179070" indent="-179070">
              <a:buFont typeface="Arial" panose="020B0604020202020204" pitchFamily="34" charset="0"/>
              <a:buChar char="•"/>
            </a:pPr>
            <a:r>
              <a:rPr lang="en-GB" dirty="0"/>
              <a:t>Input resister in </a:t>
            </a:r>
            <a:r>
              <a:rPr lang="en-GB" dirty="0" err="1"/>
              <a:t>kohms</a:t>
            </a:r>
            <a:endParaRPr lang="en-GB" dirty="0"/>
          </a:p>
          <a:p>
            <a:pPr marL="179070" indent="-179070">
              <a:buFont typeface="Arial" panose="020B0604020202020204" pitchFamily="34" charset="0"/>
              <a:buChar char="•"/>
            </a:pPr>
            <a:r>
              <a:rPr lang="en-GB" dirty="0"/>
              <a:t>Low-pass filter in kHz</a:t>
            </a:r>
            <a:r>
              <a:rPr lang="en-GB" baseline="0" dirty="0"/>
              <a:t> (high-side)</a:t>
            </a:r>
          </a:p>
          <a:p>
            <a:pPr marL="179070" indent="-179070">
              <a:buFont typeface="Arial" panose="020B0604020202020204" pitchFamily="34" charset="0"/>
              <a:buChar char="•"/>
            </a:pPr>
            <a:r>
              <a:rPr lang="en-GB" baseline="0" dirty="0"/>
              <a:t>Feedback resister in </a:t>
            </a:r>
            <a:r>
              <a:rPr lang="en-GB" baseline="0" dirty="0" err="1"/>
              <a:t>kohms</a:t>
            </a:r>
            <a:endParaRPr lang="en-GB" baseline="0" dirty="0"/>
          </a:p>
          <a:p>
            <a:pPr marL="179070" indent="-179070">
              <a:buFont typeface="Arial" panose="020B0604020202020204" pitchFamily="34" charset="0"/>
              <a:buChar char="•"/>
            </a:pPr>
            <a:r>
              <a:rPr lang="en-GB" baseline="0" dirty="0"/>
              <a:t>High-pass filter in Hz (Low side)</a:t>
            </a:r>
          </a:p>
          <a:p>
            <a:endParaRPr lang="en-GB" baseline="0" dirty="0"/>
          </a:p>
          <a:p>
            <a:pPr marL="238760" indent="-238760">
              <a:buFont typeface="+mj-lt"/>
              <a:buAutoNum type="arabicPeriod"/>
            </a:pPr>
            <a:r>
              <a:rPr lang="en-GB" baseline="0" dirty="0"/>
              <a:t>We have given everybody two of the four parameters.</a:t>
            </a:r>
          </a:p>
          <a:p>
            <a:pPr marL="238760" indent="-238760">
              <a:buFont typeface="+mj-lt"/>
              <a:buAutoNum type="arabicPeriod"/>
            </a:pPr>
            <a:r>
              <a:rPr lang="en-GB" baseline="0" dirty="0"/>
              <a:t>This is how we guarantee that you have slightly different designs</a:t>
            </a:r>
          </a:p>
          <a:p>
            <a:pPr marL="238760" indent="-238760">
              <a:buFont typeface="+mj-lt"/>
              <a:buAutoNum type="arabicPeriod"/>
            </a:pPr>
            <a:r>
              <a:rPr lang="en-GB" baseline="0" dirty="0"/>
              <a:t>This is what I will be marking against.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87A65-2675-BC22-3DD6-B2B3AE77B2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86A7A-4562-C041-A0B9-FBAC0B1196A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129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8760" indent="-238760">
              <a:buAutoNum type="arabicPeriod"/>
            </a:pPr>
            <a:r>
              <a:rPr lang="en-GB" baseline="0" dirty="0"/>
              <a:t>The decoupling capacitors need to be replicated every time you have an op-amp chip. (capacitor on pin 7)</a:t>
            </a:r>
          </a:p>
          <a:p>
            <a:pPr marL="238760" indent="-238760">
              <a:buAutoNum type="arabicPeriod"/>
            </a:pPr>
            <a:r>
              <a:rPr lang="en-GB" baseline="0" dirty="0"/>
              <a:t>Really can tell the difference</a:t>
            </a:r>
          </a:p>
          <a:p>
            <a:pPr marL="238760" indent="-238760">
              <a:buAutoNum type="arabicPeriod"/>
            </a:pPr>
            <a:r>
              <a:rPr lang="en-GB" baseline="0" dirty="0"/>
              <a:t>When you breadboard your circuit, build initially without decoupling capacitors and then add the capacitors and compare the sound quality.</a:t>
            </a:r>
          </a:p>
          <a:p>
            <a:pPr marL="238760" indent="-238760">
              <a:buAutoNum type="arabicPeriod"/>
            </a:pPr>
            <a:r>
              <a:rPr lang="en-GB" baseline="0" dirty="0"/>
              <a:t>Capacitors should be as close to pin 7 and ground as possible.</a:t>
            </a:r>
          </a:p>
          <a:p>
            <a:pPr marL="238760" indent="-238760">
              <a:buAutoNum type="arabicPeriod"/>
            </a:pPr>
            <a:r>
              <a:rPr lang="en-GB" baseline="0" dirty="0"/>
              <a:t>Track needs to be as short as possible.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86A7A-4562-C041-A0B9-FBAC0B1196AC}" type="slidenum">
              <a:rPr lang="en-GB" smtClean="0"/>
              <a:t>12</a:t>
            </a:fld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86A7A-4562-C041-A0B9-FBAC0B1196AC}" type="slidenum">
              <a:rPr lang="en-GB" smtClean="0"/>
              <a:t>13</a:t>
            </a:fld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55675">
              <a:defRPr/>
            </a:pPr>
            <a:r>
              <a:rPr lang="en-US" dirty="0"/>
              <a:t>That’s the TL071 and then you go into a voltage buffer.</a:t>
            </a:r>
          </a:p>
          <a:p>
            <a:pPr defTabSz="955675">
              <a:defRPr/>
            </a:pPr>
            <a:r>
              <a:rPr lang="en-US" dirty="0"/>
              <a:t>No gain, it is going to give</a:t>
            </a:r>
            <a:r>
              <a:rPr lang="en-US" baseline="0" dirty="0"/>
              <a:t> an output voltage with a higher current capability.</a:t>
            </a:r>
            <a:endParaRPr lang="en-US" dirty="0"/>
          </a:p>
          <a:p>
            <a:pPr defTabSz="955675">
              <a:defRPr/>
            </a:pPr>
            <a:endParaRPr lang="en-US" dirty="0"/>
          </a:p>
          <a:p>
            <a:pPr defTabSz="955675">
              <a:defRPr/>
            </a:pPr>
            <a:r>
              <a:rPr lang="en-US" dirty="0"/>
              <a:t>----------------</a:t>
            </a:r>
          </a:p>
          <a:p>
            <a:pPr defTabSz="955675">
              <a:defRPr/>
            </a:pPr>
            <a:endParaRPr lang="en-US" dirty="0"/>
          </a:p>
          <a:p>
            <a:pPr defTabSz="955675">
              <a:defRPr/>
            </a:pPr>
            <a:r>
              <a:rPr lang="en-US" dirty="0"/>
              <a:t>A unity gain buffer amplifier may be constructed by applying a full series negative feedback (Fig. 2) to an op-amp simply by connecting its output to its inverting input, and connecting the signal source to the non-inverting input (Fig. 3). Unity gain here implies a voltage gain of one (i.e. 0 dB), but significant current gain is expected. In this configuration, the entire output voltage (β = 1 in Fig. 2) is fed back into the inverting input. The difference between the non-inverting input voltage and the inverting input voltage is amplified by the op-amp. This connection forces the op-amp to adjust its output voltage simply equal to the input voltage (</a:t>
            </a:r>
            <a:r>
              <a:rPr lang="en-US" dirty="0" err="1"/>
              <a:t>Vout</a:t>
            </a:r>
            <a:r>
              <a:rPr lang="en-US" dirty="0"/>
              <a:t> follows Vin so the circuit is named op-amp voltage follower).</a:t>
            </a:r>
          </a:p>
          <a:p>
            <a:pPr defTabSz="955675">
              <a:defRPr/>
            </a:pPr>
            <a:endParaRPr lang="en-US" dirty="0"/>
          </a:p>
          <a:p>
            <a:pPr defTabSz="955675">
              <a:defRPr/>
            </a:pPr>
            <a:r>
              <a:rPr lang="en-US" dirty="0"/>
              <a:t>The importance of this circuit does not come from any change in voltage, but from the input and output impedances of the op-amp. The input impedance of the op-amp is very high (1 MΩ to 10 TΩ), meaning that the input of the op-amp does not load down the source and draws only minimal current from it. Because the output impedance of the op-amp is very low, it drives the load as if it were a perfect voltage source. Both the connections to and from the buffer are therefore bridging connections, which reduce power consumption in the source, distortion from overloading, crosstalk and other electromagnetic interference.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86A7A-4562-C041-A0B9-FBAC0B1196AC}" type="slidenum">
              <a:rPr lang="en-GB" smtClean="0"/>
              <a:t>14</a:t>
            </a:fld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8760" indent="-238760">
              <a:buFont typeface="+mj-lt"/>
              <a:buAutoNum type="arabicPeriod"/>
            </a:pPr>
            <a:r>
              <a:rPr lang="en-GB" dirty="0"/>
              <a:t>Be aware we</a:t>
            </a:r>
            <a:r>
              <a:rPr lang="en-GB" baseline="0" dirty="0"/>
              <a:t> have a phone socket.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It has left and right inputs.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Mono amplifier need to combine these inputs, capacitor and resister one for left and one for the right.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Doesn’t make a difference to gain</a:t>
            </a:r>
          </a:p>
          <a:p>
            <a:pPr marL="716915" lvl="1" indent="-238760">
              <a:buFont typeface="+mj-lt"/>
              <a:buAutoNum type="arabicPeriod"/>
            </a:pPr>
            <a:r>
              <a:rPr lang="en-GB" baseline="0" dirty="0"/>
              <a:t>Can read more by reading textbook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86A7A-4562-C041-A0B9-FBAC0B1196AC}" type="slidenum">
              <a:rPr lang="en-GB" smtClean="0"/>
              <a:t>15</a:t>
            </a:fld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86A7A-4562-C041-A0B9-FBAC0B1196AC}" type="slidenum">
              <a:rPr lang="en-GB" smtClean="0"/>
              <a:t>18</a:t>
            </a:fld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86A7A-4562-C041-A0B9-FBAC0B1196AC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33781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86A7A-4562-C041-A0B9-FBAC0B1196AC}" type="slidenum">
              <a:rPr lang="en-GB" smtClean="0"/>
              <a:t>29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15241" y="2593508"/>
            <a:ext cx="4101627" cy="60221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>
                <a:solidFill>
                  <a:srgbClr val="FFFFF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/>
            <a:r>
              <a:rPr lang="en-GB" dirty="0"/>
              <a:t>Subhead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15241" y="1983884"/>
            <a:ext cx="4101627" cy="609624"/>
          </a:xfrm>
          <a:prstGeom prst="rect">
            <a:avLst/>
          </a:prstGeom>
        </p:spPr>
        <p:txBody>
          <a:bodyPr vert="horz"/>
          <a:lstStyle>
            <a:lvl1pPr algn="l">
              <a:defRPr sz="32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15241" y="2593508"/>
            <a:ext cx="4101627" cy="60221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>
                <a:solidFill>
                  <a:srgbClr val="FFFFF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/>
            <a:r>
              <a:rPr lang="en-GB" dirty="0"/>
              <a:t>Subhead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15241" y="1983884"/>
            <a:ext cx="4101627" cy="609624"/>
          </a:xfrm>
          <a:prstGeom prst="rect">
            <a:avLst/>
          </a:prstGeom>
        </p:spPr>
        <p:txBody>
          <a:bodyPr vert="horz"/>
          <a:lstStyle>
            <a:lvl1pPr algn="l">
              <a:defRPr sz="32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15241" y="2593508"/>
            <a:ext cx="4101627" cy="60221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>
                <a:solidFill>
                  <a:srgbClr val="FFFFF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/>
            <a:r>
              <a:rPr lang="en-GB" dirty="0"/>
              <a:t>Subhead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15241" y="1983884"/>
            <a:ext cx="4101627" cy="609624"/>
          </a:xfrm>
          <a:prstGeom prst="rect">
            <a:avLst/>
          </a:prstGeom>
        </p:spPr>
        <p:txBody>
          <a:bodyPr vert="horz"/>
          <a:lstStyle>
            <a:lvl1pPr algn="l">
              <a:defRPr sz="32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15241" y="2593508"/>
            <a:ext cx="4101627" cy="60221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>
                <a:solidFill>
                  <a:srgbClr val="FFFFF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/>
            <a:r>
              <a:rPr lang="en-GB" dirty="0"/>
              <a:t>Subhead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15241" y="1983884"/>
            <a:ext cx="4101627" cy="609624"/>
          </a:xfrm>
          <a:prstGeom prst="rect">
            <a:avLst/>
          </a:prstGeom>
        </p:spPr>
        <p:txBody>
          <a:bodyPr vert="horz"/>
          <a:lstStyle>
            <a:lvl1pPr algn="l">
              <a:defRPr sz="32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5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15241" y="2593508"/>
            <a:ext cx="4101627" cy="60221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>
                <a:solidFill>
                  <a:srgbClr val="FFFFF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/>
            <a:r>
              <a:rPr lang="en-GB" dirty="0"/>
              <a:t>Subhead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15241" y="1983884"/>
            <a:ext cx="4101627" cy="609624"/>
          </a:xfrm>
          <a:prstGeom prst="rect">
            <a:avLst/>
          </a:prstGeom>
        </p:spPr>
        <p:txBody>
          <a:bodyPr vert="horz"/>
          <a:lstStyle>
            <a:lvl1pPr algn="l">
              <a:defRPr sz="32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6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15241" y="2593508"/>
            <a:ext cx="4101627" cy="60221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>
                <a:solidFill>
                  <a:srgbClr val="FFFFF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/>
            <a:r>
              <a:rPr lang="en-GB" dirty="0"/>
              <a:t>Subhead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15241" y="1983884"/>
            <a:ext cx="4101627" cy="609624"/>
          </a:xfrm>
          <a:prstGeom prst="rect">
            <a:avLst/>
          </a:prstGeom>
        </p:spPr>
        <p:txBody>
          <a:bodyPr vert="horz"/>
          <a:lstStyle>
            <a:lvl1pPr algn="l">
              <a:defRPr sz="32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7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15241" y="2593508"/>
            <a:ext cx="4101627" cy="60221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>
                <a:solidFill>
                  <a:srgbClr val="FFFFF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/>
            <a:r>
              <a:rPr lang="en-GB" dirty="0"/>
              <a:t>Subhead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15241" y="1983884"/>
            <a:ext cx="4101627" cy="609624"/>
          </a:xfrm>
          <a:prstGeom prst="rect">
            <a:avLst/>
          </a:prstGeom>
        </p:spPr>
        <p:txBody>
          <a:bodyPr vert="horz"/>
          <a:lstStyle>
            <a:lvl1pPr algn="l">
              <a:defRPr sz="32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8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15241" y="2593508"/>
            <a:ext cx="4101627" cy="60221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>
                <a:solidFill>
                  <a:srgbClr val="FFFFF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/>
            <a:r>
              <a:rPr lang="en-GB" dirty="0"/>
              <a:t>Subhead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15241" y="1983884"/>
            <a:ext cx="4101627" cy="609624"/>
          </a:xfrm>
          <a:prstGeom prst="rect">
            <a:avLst/>
          </a:prstGeom>
        </p:spPr>
        <p:txBody>
          <a:bodyPr vert="horz"/>
          <a:lstStyle>
            <a:lvl1pPr algn="l">
              <a:defRPr sz="32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9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15241" y="2593508"/>
            <a:ext cx="4101627" cy="60221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>
                <a:solidFill>
                  <a:srgbClr val="FFFFF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/>
            <a:r>
              <a:rPr lang="en-GB" dirty="0"/>
              <a:t>Subhead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15241" y="1983884"/>
            <a:ext cx="4101627" cy="609624"/>
          </a:xfrm>
          <a:prstGeom prst="rect">
            <a:avLst/>
          </a:prstGeom>
        </p:spPr>
        <p:txBody>
          <a:bodyPr vert="horz"/>
          <a:lstStyle>
            <a:lvl1pPr algn="l">
              <a:defRPr sz="32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0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15241" y="2593508"/>
            <a:ext cx="4101627" cy="60221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>
                <a:solidFill>
                  <a:srgbClr val="FFFFF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/>
            <a:r>
              <a:rPr lang="en-GB" dirty="0"/>
              <a:t>Subhead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5241" y="1983884"/>
            <a:ext cx="4101627" cy="609624"/>
          </a:xfrm>
          <a:prstGeom prst="rect">
            <a:avLst/>
          </a:prstGeom>
        </p:spPr>
        <p:txBody>
          <a:bodyPr vert="horz"/>
          <a:lstStyle>
            <a:lvl1pPr algn="l">
              <a:defRPr sz="32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15241" y="2593508"/>
            <a:ext cx="4101627" cy="60221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>
                <a:solidFill>
                  <a:srgbClr val="FFFFF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/>
            <a:r>
              <a:rPr lang="en-GB" dirty="0"/>
              <a:t>Subhead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15241" y="1983884"/>
            <a:ext cx="4101627" cy="609624"/>
          </a:xfrm>
          <a:prstGeom prst="rect">
            <a:avLst/>
          </a:prstGeom>
        </p:spPr>
        <p:txBody>
          <a:bodyPr vert="horz"/>
          <a:lstStyle>
            <a:lvl1pPr algn="l">
              <a:defRPr sz="32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81567" y="206375"/>
            <a:ext cx="8229600" cy="610054"/>
          </a:xfrm>
          <a:prstGeom prst="rect">
            <a:avLst/>
          </a:prstGeom>
        </p:spPr>
        <p:txBody>
          <a:bodyPr vert="horz"/>
          <a:lstStyle>
            <a:lvl1pPr algn="l">
              <a:defRPr sz="2800">
                <a:solidFill>
                  <a:srgbClr val="FFFFF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4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381567" y="1132125"/>
            <a:ext cx="8401928" cy="3384957"/>
          </a:xfrm>
          <a:prstGeom prst="rect">
            <a:avLst/>
          </a:prstGeom>
        </p:spPr>
        <p:txBody>
          <a:bodyPr vert="horz"/>
          <a:lstStyle>
            <a:lvl1pPr marL="285750" marR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3008F"/>
              </a:buClr>
              <a:buSzTx/>
              <a:buFont typeface="Arial" panose="020B0604020202020204" pitchFamily="34" charset="0"/>
              <a:buChar char="•"/>
              <a:defRPr sz="2000" baseline="0">
                <a:latin typeface="Arial" panose="020B0604020202020204"/>
                <a:cs typeface="Arial" panose="020B0604020202020204"/>
              </a:defRPr>
            </a:lvl1pPr>
            <a:lvl2pPr marL="742950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latin typeface="Arial" panose="020B0604020202020204"/>
                <a:cs typeface="Arial" panose="020B0604020202020204"/>
              </a:defRPr>
            </a:lvl2pPr>
            <a:lvl3pPr>
              <a:defRPr sz="1400">
                <a:latin typeface="Arial" panose="020B0604020202020204"/>
                <a:cs typeface="Arial" panose="020B0604020202020204"/>
              </a:defRPr>
            </a:lvl3pPr>
            <a:lvl4pPr>
              <a:defRPr sz="1400">
                <a:latin typeface="Arial" panose="020B0604020202020204"/>
                <a:cs typeface="Arial" panose="020B0604020202020204"/>
              </a:defRPr>
            </a:lvl4pPr>
            <a:lvl5pPr>
              <a:defRPr sz="1400"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 dirty="0"/>
              <a:t>Text</a:t>
            </a:r>
          </a:p>
          <a:p>
            <a:pPr lvl="1"/>
            <a:r>
              <a:rPr lang="en-GB" dirty="0"/>
              <a:t>Text1</a:t>
            </a:r>
          </a:p>
          <a:p>
            <a:pPr lvl="1"/>
            <a:r>
              <a:rPr lang="en-GB" dirty="0"/>
              <a:t>Text2</a:t>
            </a:r>
          </a:p>
          <a:p>
            <a:pPr lvl="0"/>
            <a:r>
              <a:rPr lang="en-GB" dirty="0"/>
              <a:t>Text</a:t>
            </a:r>
          </a:p>
          <a:p>
            <a:pPr lvl="1"/>
            <a:r>
              <a:rPr lang="en-GB" dirty="0"/>
              <a:t>Text1</a:t>
            </a:r>
          </a:p>
          <a:p>
            <a:pPr lvl="1"/>
            <a:r>
              <a:rPr lang="en-GB" dirty="0"/>
              <a:t>Text2</a:t>
            </a:r>
          </a:p>
          <a:p>
            <a:pPr lvl="0"/>
            <a:r>
              <a:rPr lang="en-GB" dirty="0"/>
              <a:t>Text</a:t>
            </a:r>
          </a:p>
          <a:p>
            <a:pPr lvl="1"/>
            <a:r>
              <a:rPr lang="en-GB" dirty="0"/>
              <a:t>Text1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4118301" y="4774168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EI1EL2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ide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81567" y="206375"/>
            <a:ext cx="8229600" cy="610054"/>
          </a:xfrm>
          <a:prstGeom prst="rect">
            <a:avLst/>
          </a:prstGeom>
        </p:spPr>
        <p:txBody>
          <a:bodyPr vert="horz"/>
          <a:lstStyle>
            <a:lvl1pPr algn="l">
              <a:defRPr sz="2800">
                <a:solidFill>
                  <a:srgbClr val="FFFFF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4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381567" y="1132125"/>
            <a:ext cx="3955302" cy="3384957"/>
          </a:xfrm>
          <a:prstGeom prst="rect">
            <a:avLst/>
          </a:prstGeom>
        </p:spPr>
        <p:txBody>
          <a:bodyPr vert="horz"/>
          <a:lstStyle>
            <a:lvl1pPr marL="285750" marR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3008F"/>
              </a:buClr>
              <a:buSzTx/>
              <a:buFont typeface="Arial" panose="020B0604020202020204" pitchFamily="34" charset="0"/>
              <a:buChar char="•"/>
              <a:defRPr sz="2000" baseline="0">
                <a:latin typeface="Arial" panose="020B0604020202020204"/>
                <a:cs typeface="Arial" panose="020B0604020202020204"/>
              </a:defRPr>
            </a:lvl1pPr>
            <a:lvl2pPr marL="742950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latin typeface="Arial" panose="020B0604020202020204"/>
                <a:cs typeface="Arial" panose="020B0604020202020204"/>
              </a:defRPr>
            </a:lvl2pPr>
            <a:lvl3pPr>
              <a:defRPr sz="1400">
                <a:latin typeface="Arial" panose="020B0604020202020204"/>
                <a:cs typeface="Arial" panose="020B0604020202020204"/>
              </a:defRPr>
            </a:lvl3pPr>
            <a:lvl4pPr>
              <a:defRPr sz="1400">
                <a:latin typeface="Arial" panose="020B0604020202020204"/>
                <a:cs typeface="Arial" panose="020B0604020202020204"/>
              </a:defRPr>
            </a:lvl4pPr>
            <a:lvl5pPr>
              <a:defRPr sz="1400"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 dirty="0"/>
              <a:t>Text</a:t>
            </a:r>
          </a:p>
          <a:p>
            <a:pPr lvl="1"/>
            <a:r>
              <a:rPr lang="en-GB" dirty="0"/>
              <a:t>Text1</a:t>
            </a:r>
          </a:p>
          <a:p>
            <a:pPr lvl="1"/>
            <a:r>
              <a:rPr lang="en-GB" dirty="0"/>
              <a:t>Text2</a:t>
            </a:r>
          </a:p>
          <a:p>
            <a:pPr lvl="0"/>
            <a:r>
              <a:rPr lang="en-GB" dirty="0"/>
              <a:t>Text</a:t>
            </a:r>
          </a:p>
          <a:p>
            <a:pPr lvl="1"/>
            <a:r>
              <a:rPr lang="en-GB" dirty="0"/>
              <a:t>Text1</a:t>
            </a:r>
          </a:p>
          <a:p>
            <a:pPr lvl="1"/>
            <a:r>
              <a:rPr lang="en-GB" dirty="0"/>
              <a:t>Text2</a:t>
            </a:r>
          </a:p>
          <a:p>
            <a:pPr lvl="0"/>
            <a:r>
              <a:rPr lang="en-GB" dirty="0"/>
              <a:t>Text</a:t>
            </a:r>
          </a:p>
          <a:p>
            <a:pPr lvl="1"/>
            <a:r>
              <a:rPr lang="en-GB" dirty="0"/>
              <a:t>Text1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4118301" y="4774168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EI1EL2</a:t>
            </a:r>
          </a:p>
        </p:txBody>
      </p:sp>
      <p:sp>
        <p:nvSpPr>
          <p:cNvPr id="5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4563291" y="1136490"/>
            <a:ext cx="4181724" cy="3384957"/>
          </a:xfrm>
          <a:prstGeom prst="rect">
            <a:avLst/>
          </a:prstGeom>
        </p:spPr>
        <p:txBody>
          <a:bodyPr vert="horz"/>
          <a:lstStyle>
            <a:lvl1pPr marL="285750" marR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3008F"/>
              </a:buClr>
              <a:buSzTx/>
              <a:buFont typeface="Arial" panose="020B0604020202020204" pitchFamily="34" charset="0"/>
              <a:buChar char="•"/>
              <a:defRPr sz="2000" baseline="0">
                <a:latin typeface="Arial" panose="020B0604020202020204"/>
                <a:cs typeface="Arial" panose="020B0604020202020204"/>
              </a:defRPr>
            </a:lvl1pPr>
            <a:lvl2pPr marL="742950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latin typeface="Arial" panose="020B0604020202020204"/>
                <a:cs typeface="Arial" panose="020B0604020202020204"/>
              </a:defRPr>
            </a:lvl2pPr>
            <a:lvl3pPr>
              <a:defRPr sz="1400">
                <a:latin typeface="Arial" panose="020B0604020202020204"/>
                <a:cs typeface="Arial" panose="020B0604020202020204"/>
              </a:defRPr>
            </a:lvl3pPr>
            <a:lvl4pPr>
              <a:defRPr sz="1400">
                <a:latin typeface="Arial" panose="020B0604020202020204"/>
                <a:cs typeface="Arial" panose="020B0604020202020204"/>
              </a:defRPr>
            </a:lvl4pPr>
            <a:lvl5pPr>
              <a:defRPr sz="1400"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 dirty="0"/>
              <a:t>Text</a:t>
            </a:r>
          </a:p>
          <a:p>
            <a:pPr lvl="1"/>
            <a:r>
              <a:rPr lang="en-GB" dirty="0"/>
              <a:t>Text1</a:t>
            </a:r>
          </a:p>
          <a:p>
            <a:pPr lvl="1"/>
            <a:r>
              <a:rPr lang="en-GB" dirty="0"/>
              <a:t>Text2</a:t>
            </a:r>
          </a:p>
          <a:p>
            <a:pPr lvl="0"/>
            <a:r>
              <a:rPr lang="en-GB" dirty="0"/>
              <a:t>Text</a:t>
            </a:r>
          </a:p>
          <a:p>
            <a:pPr lvl="1"/>
            <a:r>
              <a:rPr lang="en-GB" dirty="0"/>
              <a:t>Text1</a:t>
            </a:r>
          </a:p>
          <a:p>
            <a:pPr lvl="1"/>
            <a:r>
              <a:rPr lang="en-GB" dirty="0"/>
              <a:t>Text2</a:t>
            </a:r>
          </a:p>
          <a:p>
            <a:pPr lvl="0"/>
            <a:r>
              <a:rPr lang="en-GB" dirty="0"/>
              <a:t>Text</a:t>
            </a:r>
          </a:p>
          <a:p>
            <a:pPr lvl="1"/>
            <a:r>
              <a:rPr lang="en-GB" dirty="0"/>
              <a:t>Text1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381567" y="913575"/>
            <a:ext cx="8401928" cy="0"/>
          </a:xfrm>
          <a:prstGeom prst="line">
            <a:avLst/>
          </a:prstGeom>
          <a:ln>
            <a:solidFill>
              <a:srgbClr val="8300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381567" y="1132125"/>
            <a:ext cx="8401928" cy="3384957"/>
          </a:xfrm>
          <a:prstGeom prst="rect">
            <a:avLst/>
          </a:prstGeom>
        </p:spPr>
        <p:txBody>
          <a:bodyPr vert="horz"/>
          <a:lstStyle>
            <a:lvl1pPr marL="179705" marR="0" indent="-1797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A626AA"/>
              </a:buClr>
              <a:buSzTx/>
              <a:buFont typeface="Arial" panose="020B0604020202020204"/>
              <a:buChar char="•"/>
              <a:defRPr sz="1400" baseline="0">
                <a:latin typeface="Arial" panose="020B0604020202020204"/>
                <a:cs typeface="Arial" panose="020B0604020202020204"/>
              </a:defRPr>
            </a:lvl1pPr>
            <a:lvl2pPr>
              <a:defRPr sz="1400">
                <a:latin typeface="Arial" panose="020B0604020202020204"/>
                <a:cs typeface="Arial" panose="020B0604020202020204"/>
              </a:defRPr>
            </a:lvl2pPr>
            <a:lvl3pPr>
              <a:defRPr sz="1400">
                <a:latin typeface="Arial" panose="020B0604020202020204"/>
                <a:cs typeface="Arial" panose="020B0604020202020204"/>
              </a:defRPr>
            </a:lvl3pPr>
            <a:lvl4pPr>
              <a:defRPr sz="1400">
                <a:latin typeface="Arial" panose="020B0604020202020204"/>
                <a:cs typeface="Arial" panose="020B0604020202020204"/>
              </a:defRPr>
            </a:lvl4pPr>
            <a:lvl5pPr>
              <a:defRPr sz="1400"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 dirty="0"/>
              <a:t>text</a:t>
            </a:r>
          </a:p>
          <a:p>
            <a:pPr lvl="0"/>
            <a:r>
              <a:rPr lang="en-GB" dirty="0"/>
              <a:t>text</a:t>
            </a:r>
          </a:p>
          <a:p>
            <a:pPr lvl="0"/>
            <a:r>
              <a:rPr lang="en-GB" dirty="0"/>
              <a:t>text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>
          <a:xfrm>
            <a:off x="381567" y="206375"/>
            <a:ext cx="8229600" cy="610054"/>
          </a:xfrm>
          <a:prstGeom prst="rect">
            <a:avLst/>
          </a:prstGeom>
        </p:spPr>
        <p:txBody>
          <a:bodyPr vert="horz"/>
          <a:lstStyle>
            <a:lvl1pPr algn="l">
              <a:defRPr sz="2800">
                <a:solidFill>
                  <a:srgbClr val="83008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15241" y="3111093"/>
            <a:ext cx="4101627" cy="602218"/>
          </a:xfrm>
        </p:spPr>
        <p:txBody>
          <a:bodyPr/>
          <a:lstStyle/>
          <a:p>
            <a:r>
              <a:rPr lang="en-US" sz="1800" dirty="0"/>
              <a:t>Audio Amplifier Design - Introduction</a:t>
            </a:r>
          </a:p>
          <a:p>
            <a:r>
              <a:rPr lang="en-US" sz="1800" dirty="0" err="1"/>
              <a:t>Dr</a:t>
            </a:r>
            <a:r>
              <a:rPr lang="en-US" sz="1800" dirty="0"/>
              <a:t> Ian Phillips</a:t>
            </a:r>
          </a:p>
          <a:p>
            <a:endParaRPr lang="en-US" sz="1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15241" y="1983884"/>
            <a:ext cx="5140170" cy="609624"/>
          </a:xfrm>
        </p:spPr>
        <p:txBody>
          <a:bodyPr/>
          <a:lstStyle/>
          <a:p>
            <a:r>
              <a:rPr lang="en-US" dirty="0"/>
              <a:t>EI1EL2</a:t>
            </a:r>
            <a:br>
              <a:rPr lang="en-US" dirty="0"/>
            </a:br>
            <a:r>
              <a:rPr lang="en-US" dirty="0"/>
              <a:t>Electronics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832" y="129356"/>
            <a:ext cx="8229600" cy="610054"/>
          </a:xfrm>
        </p:spPr>
        <p:txBody>
          <a:bodyPr/>
          <a:lstStyle/>
          <a:p>
            <a:r>
              <a:rPr lang="en-GB" dirty="0"/>
              <a:t>Your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81567" y="1132126"/>
            <a:ext cx="8401928" cy="1242940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 dirty="0"/>
              <a:t>Design and build a two-stage audio amplifier with a filter that takes a signal from a mobile phone or MP3 player and amplifies it to drive an external speaker</a:t>
            </a:r>
          </a:p>
        </p:txBody>
      </p:sp>
      <p:sp>
        <p:nvSpPr>
          <p:cNvPr id="5" name="Content Placeholder 2"/>
          <p:cNvSpPr txBox="1"/>
          <p:nvPr/>
        </p:nvSpPr>
        <p:spPr>
          <a:xfrm>
            <a:off x="381566" y="2408714"/>
            <a:ext cx="4511067" cy="2519546"/>
          </a:xfrm>
          <a:prstGeom prst="rect">
            <a:avLst/>
          </a:prstGeom>
        </p:spPr>
        <p:txBody>
          <a:bodyPr vert="horz"/>
          <a:lstStyle>
            <a:lvl1pPr marL="285750" marR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3008F"/>
              </a:buClr>
              <a:buSzTx/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4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14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14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/>
              <a:t>Why two-stage?</a:t>
            </a:r>
          </a:p>
          <a:p>
            <a:r>
              <a:rPr lang="en-GB" altLang="en-US" sz="1800" dirty="0"/>
              <a:t>A more complex problem</a:t>
            </a:r>
          </a:p>
          <a:p>
            <a:r>
              <a:rPr lang="en-GB" altLang="en-US" sz="1800" dirty="0"/>
              <a:t>Connecting output of TL071 filter directly to a speaker would sound very bad due to limited current supply</a:t>
            </a:r>
          </a:p>
          <a:p>
            <a:r>
              <a:rPr lang="en-GB" altLang="en-US" sz="1800" dirty="0"/>
              <a:t>A buffer amplifier is required</a:t>
            </a:r>
            <a:endParaRPr lang="en-GB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632" y="2584092"/>
            <a:ext cx="4037611" cy="21687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Detailed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81567" y="1132125"/>
            <a:ext cx="4990533" cy="3384957"/>
          </a:xfrm>
        </p:spPr>
        <p:txBody>
          <a:bodyPr/>
          <a:lstStyle/>
          <a:p>
            <a:r>
              <a:rPr lang="en-GB" sz="1800" dirty="0"/>
              <a:t>Everybody should come up with there own design</a:t>
            </a:r>
          </a:p>
          <a:p>
            <a:r>
              <a:rPr lang="en-GB" sz="1800" dirty="0"/>
              <a:t>We will recognise two designs the same and you will be penalised for plagiarism</a:t>
            </a:r>
          </a:p>
          <a:p>
            <a:r>
              <a:rPr lang="en-GB" sz="1800" dirty="0"/>
              <a:t>Talk to each other, that’s encouraged</a:t>
            </a:r>
          </a:p>
          <a:p>
            <a:r>
              <a:rPr lang="en-GB" sz="1800" dirty="0"/>
              <a:t>You will start with slightly different values</a:t>
            </a:r>
          </a:p>
          <a:p>
            <a:r>
              <a:rPr lang="en-GB" sz="1800" dirty="0"/>
              <a:t>Converge to a very similar design</a:t>
            </a:r>
          </a:p>
          <a:p>
            <a:r>
              <a:rPr lang="en-GB" sz="1800" dirty="0"/>
              <a:t>We don’t won’t the exactly same design</a:t>
            </a:r>
          </a:p>
          <a:p>
            <a:endParaRPr lang="en-GB" sz="1800" dirty="0"/>
          </a:p>
        </p:txBody>
      </p:sp>
      <p:pic>
        <p:nvPicPr>
          <p:cNvPr id="5" name="Picture 3" descr="skd181913sdc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279" y="1045289"/>
            <a:ext cx="3141663" cy="340870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 rot="828181">
            <a:off x="6012652" y="1922655"/>
            <a:ext cx="145368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GB" sz="5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???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are we doing this???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sz="1800" dirty="0"/>
              <a:t>“I expect placement students an graduates to have a good understanding of analogue electronics… e.g. op-amps and transistors”   Rolls Royce</a:t>
            </a:r>
          </a:p>
          <a:p>
            <a:r>
              <a:rPr lang="en-GB" sz="1800" dirty="0"/>
              <a:t>“I expect students to be able to find their own way around a lab and use equipment like function generators and oscilloscopes” UTC Aerospace</a:t>
            </a:r>
          </a:p>
          <a:p>
            <a:r>
              <a:rPr lang="en-GB" sz="1800" dirty="0"/>
              <a:t>“Students need to be able to record what they have done so that we can use that information at a later date’ IBM </a:t>
            </a:r>
          </a:p>
          <a:p>
            <a:r>
              <a:rPr lang="en-GB" sz="1800" dirty="0"/>
              <a:t>“I look for interns who are interested in how things work and can build up their own projects” Mattel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 and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sz="2400" dirty="0"/>
              <a:t>When you have finished this project you should be able to:</a:t>
            </a:r>
          </a:p>
          <a:p>
            <a:pPr lvl="1"/>
            <a:r>
              <a:rPr lang="en-GB" sz="1800" dirty="0"/>
              <a:t>Plan the development of a simple prototype</a:t>
            </a:r>
          </a:p>
          <a:p>
            <a:pPr lvl="1"/>
            <a:r>
              <a:rPr lang="en-GB" sz="1800" dirty="0"/>
              <a:t>Use Proteus software to design and simulate a circuit and layout a PCB</a:t>
            </a:r>
          </a:p>
          <a:p>
            <a:pPr lvl="1"/>
            <a:r>
              <a:rPr lang="en-GB" sz="1800" dirty="0"/>
              <a:t>Demonstrate build and test skills for a simple circuit</a:t>
            </a:r>
          </a:p>
          <a:p>
            <a:pPr lvl="1"/>
            <a:r>
              <a:rPr lang="en-GB" sz="1800" dirty="0"/>
              <a:t>Understand the design and workings of an audio amplifier</a:t>
            </a:r>
          </a:p>
          <a:p>
            <a:pPr lvl="1"/>
            <a:r>
              <a:rPr lang="en-GB" sz="1800" dirty="0"/>
              <a:t>Write a concise but comprehensive design and test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758E-94D3-4193-4BEF-A74342B4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C1594-E1A7-F3DF-6526-7B860E4FA4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A written technical design report (70% of module)</a:t>
            </a:r>
          </a:p>
          <a:p>
            <a:pPr lvl="1"/>
            <a:r>
              <a:rPr lang="en-GB" dirty="0"/>
              <a:t>Detailed template provided</a:t>
            </a:r>
          </a:p>
          <a:p>
            <a:pPr lvl="1"/>
            <a:r>
              <a:rPr lang="en-GB" dirty="0"/>
              <a:t>15 page limit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2405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Top-level system or block diagram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41531" y="986874"/>
            <a:ext cx="5613559" cy="380888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accent4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GB">
              <a:solidFill>
                <a:srgbClr val="FFFFFF"/>
              </a:solidFill>
              <a:ea typeface="MS PGothic" panose="020B0600070205080204" charset="-128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86241" y="2409257"/>
            <a:ext cx="1667770" cy="17359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GB" dirty="0"/>
              <a:t>Amplifier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114" y="2714393"/>
            <a:ext cx="1278092" cy="100870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GB" dirty="0"/>
              <a:t>Inputs?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20519" y="2745698"/>
            <a:ext cx="1279318" cy="100747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GB" dirty="0"/>
              <a:t>Outputs?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6241" y="1168126"/>
            <a:ext cx="1667770" cy="100747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GB" dirty="0"/>
              <a:t>Power?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623481" y="3111011"/>
            <a:ext cx="1999853" cy="2234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GB">
              <a:solidFill>
                <a:srgbClr val="FFFFFF"/>
              </a:solidFill>
              <a:ea typeface="MS PGothic" panose="020B0600070205080204" charset="-128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5409154" y="3168565"/>
            <a:ext cx="2111365" cy="2234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GB">
              <a:solidFill>
                <a:srgbClr val="FFFFFF"/>
              </a:solidFill>
              <a:ea typeface="MS PGothic" panose="020B0600070205080204" charset="-128"/>
            </a:endParaRPr>
          </a:p>
        </p:txBody>
      </p:sp>
      <p:sp>
        <p:nvSpPr>
          <p:cNvPr id="24" name="Right Arrow 23"/>
          <p:cNvSpPr/>
          <p:nvPr/>
        </p:nvSpPr>
        <p:spPr>
          <a:xfrm rot="5400000">
            <a:off x="4463736" y="2209101"/>
            <a:ext cx="169147" cy="1666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GB">
              <a:solidFill>
                <a:srgbClr val="FFFFFF"/>
              </a:solidFill>
              <a:ea typeface="MS PGothic" panose="020B0600070205080204" charset="-128"/>
            </a:endParaRPr>
          </a:p>
        </p:txBody>
      </p:sp>
      <p:sp>
        <p:nvSpPr>
          <p:cNvPr id="25" name="TextBox 14"/>
          <p:cNvSpPr txBox="1">
            <a:spLocks noChangeArrowheads="1"/>
          </p:cNvSpPr>
          <p:nvPr/>
        </p:nvSpPr>
        <p:spPr bwMode="auto">
          <a:xfrm>
            <a:off x="6576961" y="4427838"/>
            <a:ext cx="697252" cy="28767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/>
              <a:t>Casing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08185" y="1168126"/>
            <a:ext cx="1278092" cy="66441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GB" dirty="0"/>
              <a:t>Controls?</a:t>
            </a:r>
          </a:p>
        </p:txBody>
      </p:sp>
      <p:sp>
        <p:nvSpPr>
          <p:cNvPr id="28" name="Right Arrow 21"/>
          <p:cNvSpPr/>
          <p:nvPr/>
        </p:nvSpPr>
        <p:spPr>
          <a:xfrm>
            <a:off x="3243858" y="1432910"/>
            <a:ext cx="389677" cy="2234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GB">
              <a:solidFill>
                <a:srgbClr val="FFFFFF"/>
              </a:solidFill>
              <a:ea typeface="MS PGothic" panose="020B0600070205080204" charset="-128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904363" y="2337698"/>
            <a:ext cx="1278092" cy="66441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GB" dirty="0"/>
              <a:t>Controls?</a:t>
            </a:r>
          </a:p>
        </p:txBody>
      </p:sp>
      <p:sp>
        <p:nvSpPr>
          <p:cNvPr id="30" name="Right Arrow 21"/>
          <p:cNvSpPr/>
          <p:nvPr/>
        </p:nvSpPr>
        <p:spPr>
          <a:xfrm>
            <a:off x="3237539" y="2571750"/>
            <a:ext cx="389677" cy="2234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GB">
              <a:solidFill>
                <a:srgbClr val="FFFFFF"/>
              </a:solidFill>
              <a:ea typeface="MS PGothic" panose="020B060007020508020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Gain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78882" y="1032056"/>
            <a:ext cx="4722543" cy="3105604"/>
            <a:chOff x="178883" y="1032056"/>
            <a:chExt cx="4317484" cy="2857686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2337628" y="1294878"/>
              <a:ext cx="0" cy="532875"/>
            </a:xfrm>
            <a:prstGeom prst="straightConnector1">
              <a:avLst/>
            </a:prstGeom>
            <a:ln w="7620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787153" y="1032056"/>
              <a:ext cx="12558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Power to IC 9V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497774" y="1827752"/>
              <a:ext cx="1679709" cy="1448030"/>
            </a:xfrm>
            <a:prstGeom prst="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rgbClr val="83008F"/>
                </a:gs>
              </a:gsLst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Amplifier</a:t>
              </a:r>
            </a:p>
            <a:p>
              <a:pPr algn="ctr"/>
              <a:r>
                <a:rPr lang="en-US" sz="1050" dirty="0"/>
                <a:t>From OPA551 datasheet</a:t>
              </a:r>
            </a:p>
            <a:p>
              <a:pPr algn="ctr"/>
              <a:r>
                <a:rPr lang="en-US" sz="1050" dirty="0" err="1"/>
                <a:t>Ipk</a:t>
              </a:r>
              <a:r>
                <a:rPr lang="en-US" sz="1050" dirty="0"/>
                <a:t>+/- 200mA continuous output</a:t>
              </a:r>
            </a:p>
            <a:p>
              <a:pPr algn="ctr"/>
              <a:r>
                <a:rPr lang="en-US" sz="1050" dirty="0" err="1"/>
                <a:t>Iav</a:t>
              </a:r>
              <a:r>
                <a:rPr lang="en-US" sz="1050" dirty="0"/>
                <a:t> ~ +/-250mA</a:t>
              </a:r>
            </a:p>
            <a:p>
              <a:pPr algn="ctr"/>
              <a:r>
                <a:rPr lang="en-US" sz="1050" dirty="0"/>
                <a:t>Output resistance 8 Ohm</a:t>
              </a:r>
            </a:p>
            <a:p>
              <a:pPr algn="ctr"/>
              <a:r>
                <a:rPr lang="en-US" sz="1050" dirty="0"/>
                <a:t>Power requirement = +/-3V from limits</a:t>
              </a:r>
            </a:p>
            <a:p>
              <a:pPr algn="ctr"/>
              <a:endParaRPr lang="en-US" sz="1050" dirty="0"/>
            </a:p>
          </p:txBody>
        </p:sp>
        <p:cxnSp>
          <p:nvCxnSpPr>
            <p:cNvPr id="8" name="Straight Arrow Connector 7"/>
            <p:cNvCxnSpPr>
              <a:endCxn id="7" idx="1"/>
            </p:cNvCxnSpPr>
            <p:nvPr/>
          </p:nvCxnSpPr>
          <p:spPr>
            <a:xfrm>
              <a:off x="489948" y="2551768"/>
              <a:ext cx="1007826" cy="0"/>
            </a:xfrm>
            <a:prstGeom prst="straightConnector1">
              <a:avLst/>
            </a:prstGeom>
            <a:ln w="76200" cmpd="sng">
              <a:solidFill>
                <a:srgbClr val="83008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3177484" y="2551768"/>
              <a:ext cx="1318883" cy="3926"/>
            </a:xfrm>
            <a:prstGeom prst="straightConnector1">
              <a:avLst/>
            </a:prstGeom>
            <a:ln w="190500" cmpd="sng">
              <a:solidFill>
                <a:srgbClr val="74267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78883" y="1781414"/>
              <a:ext cx="10233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Voltage in</a:t>
              </a:r>
            </a:p>
            <a:p>
              <a:r>
                <a:rPr lang="en-US" sz="1400" dirty="0"/>
                <a:t>(from MP3)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02742" y="1598225"/>
              <a:ext cx="10572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Voltage out</a:t>
              </a:r>
            </a:p>
            <a:p>
              <a:r>
                <a:rPr lang="en-US" sz="1400" dirty="0"/>
                <a:t>(to speaker)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497774" y="3275783"/>
              <a:ext cx="839855" cy="613959"/>
            </a:xfrm>
            <a:prstGeom prst="rect">
              <a:avLst/>
            </a:prstGeom>
            <a:solidFill>
              <a:schemeClr val="accent5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TL071</a:t>
              </a:r>
            </a:p>
            <a:p>
              <a:pPr algn="ctr"/>
              <a:r>
                <a:rPr lang="en-US" sz="1400" dirty="0"/>
                <a:t>Voltage gain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352475" y="3275783"/>
              <a:ext cx="839855" cy="613959"/>
            </a:xfrm>
            <a:prstGeom prst="rect">
              <a:avLst/>
            </a:prstGeom>
            <a:solidFill>
              <a:schemeClr val="accent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OPA551</a:t>
              </a:r>
            </a:p>
            <a:p>
              <a:pPr algn="ctr"/>
              <a:r>
                <a:rPr lang="en-US" sz="1400" dirty="0"/>
                <a:t>Current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338012" y="2537118"/>
            <a:ext cx="1493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Voltage in</a:t>
            </a:r>
          </a:p>
          <a:p>
            <a:r>
              <a:rPr lang="en-US" dirty="0"/>
              <a:t>(from Mobile)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486" y="1888289"/>
            <a:ext cx="14763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Voltage out</a:t>
            </a:r>
          </a:p>
          <a:p>
            <a:r>
              <a:rPr lang="en-US" dirty="0"/>
              <a:t>(to speaker)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6300486" y="2534620"/>
            <a:ext cx="1476336" cy="24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231385" y="2317002"/>
            <a:ext cx="903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Gain 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8710" y="3675995"/>
            <a:ext cx="3386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       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28" name="Group 27"/>
          <p:cNvGrpSpPr/>
          <p:nvPr/>
        </p:nvGrpSpPr>
        <p:grpSpPr>
          <a:xfrm>
            <a:off x="6270503" y="3458664"/>
            <a:ext cx="2174137" cy="1110494"/>
            <a:chOff x="8480250" y="2105522"/>
            <a:chExt cx="2174137" cy="1110494"/>
          </a:xfrm>
        </p:grpSpPr>
        <p:sp>
          <p:nvSpPr>
            <p:cNvPr id="22" name="TextBox 21"/>
            <p:cNvSpPr txBox="1"/>
            <p:nvPr/>
          </p:nvSpPr>
          <p:spPr>
            <a:xfrm>
              <a:off x="8638965" y="2569685"/>
              <a:ext cx="189423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Voltage in</a:t>
              </a:r>
            </a:p>
            <a:p>
              <a:pPr algn="ctr"/>
              <a:r>
                <a:rPr lang="en-US" dirty="0"/>
                <a:t>(See specification)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346272" y="210552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8480250" y="2567187"/>
              <a:ext cx="2174137" cy="24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7944342" y="2541018"/>
            <a:ext cx="10005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merican Typewriter"/>
                <a:cs typeface="American Typewriter"/>
              </a:rPr>
              <a:t>Limited by</a:t>
            </a:r>
          </a:p>
          <a:p>
            <a:r>
              <a:rPr lang="en-US" sz="1400" dirty="0">
                <a:solidFill>
                  <a:srgbClr val="FF0000"/>
                </a:solidFill>
                <a:latin typeface="American Typewriter"/>
                <a:cs typeface="American Typewriter"/>
              </a:rPr>
              <a:t>OPA551</a:t>
            </a:r>
          </a:p>
          <a:p>
            <a:r>
              <a:rPr lang="en-US" sz="1400" dirty="0">
                <a:solidFill>
                  <a:srgbClr val="FF0000"/>
                </a:solidFill>
                <a:latin typeface="American Typewriter"/>
                <a:cs typeface="American Typewriter"/>
              </a:rPr>
              <a:t>current</a:t>
            </a:r>
          </a:p>
        </p:txBody>
      </p:sp>
      <p:sp>
        <p:nvSpPr>
          <p:cNvPr id="26" name="Striped Right Arrow 25"/>
          <p:cNvSpPr/>
          <p:nvPr/>
        </p:nvSpPr>
        <p:spPr>
          <a:xfrm rot="9142764">
            <a:off x="7582845" y="3373681"/>
            <a:ext cx="713984" cy="193511"/>
          </a:xfrm>
          <a:prstGeom prst="striped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Active Bandpass filter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5426006" y="3498915"/>
            <a:ext cx="3198495" cy="1610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solidFill>
                  <a:schemeClr val="tx1"/>
                </a:solidFill>
              </a:rPr>
              <a:t>Upper cut-off frequency</a:t>
            </a:r>
          </a:p>
          <a:p>
            <a:r>
              <a:rPr lang="en-GB" altLang="en-US" sz="1800" dirty="0" err="1">
                <a:solidFill>
                  <a:srgbClr val="7030A0"/>
                </a:solidFill>
              </a:rPr>
              <a:t>f</a:t>
            </a:r>
            <a:r>
              <a:rPr lang="en-GB" altLang="en-US" sz="1800" baseline="-25000" dirty="0" err="1">
                <a:solidFill>
                  <a:srgbClr val="7030A0"/>
                </a:solidFill>
              </a:rPr>
              <a:t>u</a:t>
            </a:r>
            <a:r>
              <a:rPr lang="en-GB" altLang="en-US" sz="1800" dirty="0">
                <a:solidFill>
                  <a:srgbClr val="7030A0"/>
                </a:solidFill>
              </a:rPr>
              <a:t> = 1/(2</a:t>
            </a:r>
            <a:r>
              <a:rPr lang="en-GB" altLang="en-US" sz="1800" dirty="0">
                <a:solidFill>
                  <a:srgbClr val="7030A0"/>
                </a:solidFill>
                <a:latin typeface="Symbol" panose="05050102010706020507" pitchFamily="2" charset="2"/>
              </a:rPr>
              <a:t>p</a:t>
            </a:r>
            <a:r>
              <a:rPr lang="en-GB" altLang="en-US" sz="1800" dirty="0">
                <a:solidFill>
                  <a:srgbClr val="7030A0"/>
                </a:solidFill>
              </a:rPr>
              <a:t>R</a:t>
            </a:r>
            <a:r>
              <a:rPr lang="en-GB" altLang="en-US" sz="1800" baseline="-25000" dirty="0">
                <a:solidFill>
                  <a:srgbClr val="7030A0"/>
                </a:solidFill>
              </a:rPr>
              <a:t>1</a:t>
            </a:r>
            <a:r>
              <a:rPr lang="en-GB" altLang="en-US" sz="1800" dirty="0">
                <a:solidFill>
                  <a:srgbClr val="7030A0"/>
                </a:solidFill>
              </a:rPr>
              <a:t>C</a:t>
            </a:r>
            <a:r>
              <a:rPr lang="en-GB" altLang="en-US" sz="1800" baseline="-25000" dirty="0">
                <a:solidFill>
                  <a:srgbClr val="7030A0"/>
                </a:solidFill>
              </a:rPr>
              <a:t>1</a:t>
            </a:r>
            <a:r>
              <a:rPr lang="en-GB" altLang="en-US" sz="1800" dirty="0">
                <a:solidFill>
                  <a:srgbClr val="7030A0"/>
                </a:solidFill>
              </a:rPr>
              <a:t>)</a:t>
            </a:r>
          </a:p>
          <a:p>
            <a:pPr eaLnBrk="1" hangingPunct="1"/>
            <a:endParaRPr lang="en-GB" altLang="en-US" sz="1100" dirty="0">
              <a:solidFill>
                <a:schemeClr val="tx1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solidFill>
                  <a:schemeClr val="tx1"/>
                </a:solidFill>
              </a:rPr>
              <a:t>Lower cut-off frequency</a:t>
            </a:r>
          </a:p>
          <a:p>
            <a:pPr eaLnBrk="1" hangingPunct="1"/>
            <a:r>
              <a:rPr lang="en-GB" altLang="en-US" sz="1800" dirty="0" err="1">
                <a:solidFill>
                  <a:srgbClr val="7030A0"/>
                </a:solidFill>
              </a:rPr>
              <a:t>f</a:t>
            </a:r>
            <a:r>
              <a:rPr lang="en-GB" altLang="en-US" sz="1800" baseline="-25000" dirty="0" err="1">
                <a:solidFill>
                  <a:srgbClr val="7030A0"/>
                </a:solidFill>
              </a:rPr>
              <a:t>l</a:t>
            </a:r>
            <a:r>
              <a:rPr lang="en-GB" altLang="en-US" sz="1800" dirty="0">
                <a:solidFill>
                  <a:srgbClr val="7030A0"/>
                </a:solidFill>
              </a:rPr>
              <a:t> = 1/(2</a:t>
            </a:r>
            <a:r>
              <a:rPr lang="en-GB" altLang="en-US" sz="1800" dirty="0">
                <a:solidFill>
                  <a:srgbClr val="7030A0"/>
                </a:solidFill>
                <a:latin typeface="Symbol" panose="05050102010706020507" pitchFamily="2" charset="2"/>
              </a:rPr>
              <a:t>p</a:t>
            </a:r>
            <a:r>
              <a:rPr lang="en-GB" altLang="en-US" sz="1800" dirty="0">
                <a:solidFill>
                  <a:srgbClr val="7030A0"/>
                </a:solidFill>
              </a:rPr>
              <a:t>R</a:t>
            </a:r>
            <a:r>
              <a:rPr lang="en-GB" altLang="en-US" sz="1800" baseline="-25000" dirty="0">
                <a:solidFill>
                  <a:srgbClr val="7030A0"/>
                </a:solidFill>
              </a:rPr>
              <a:t>2</a:t>
            </a:r>
            <a:r>
              <a:rPr lang="en-GB" altLang="en-US" sz="1800" dirty="0">
                <a:solidFill>
                  <a:srgbClr val="7030A0"/>
                </a:solidFill>
              </a:rPr>
              <a:t>C</a:t>
            </a:r>
            <a:r>
              <a:rPr lang="en-GB" altLang="en-US" sz="1800" baseline="-25000" dirty="0">
                <a:solidFill>
                  <a:srgbClr val="7030A0"/>
                </a:solidFill>
              </a:rPr>
              <a:t>2</a:t>
            </a:r>
            <a:r>
              <a:rPr lang="en-GB" altLang="en-US" sz="1800" dirty="0">
                <a:solidFill>
                  <a:srgbClr val="7030A0"/>
                </a:solidFill>
              </a:rPr>
              <a:t>)</a:t>
            </a:r>
            <a:endParaRPr lang="en-US" altLang="en-US" sz="1800" dirty="0">
              <a:solidFill>
                <a:srgbClr val="7030A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>
              <a:solidFill>
                <a:schemeClr val="tx1"/>
              </a:solidFill>
            </a:endParaRP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5155180" y="1047500"/>
          <a:ext cx="3455987" cy="233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24412575" imgH="16487775" progId="Word.Picture.8">
                  <p:embed/>
                </p:oleObj>
              </mc:Choice>
              <mc:Fallback>
                <p:oleObj name="Picture" r:id="rId3" imgW="24412575" imgH="16487775" progId="Word.Picture.8">
                  <p:embed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5180" y="1047500"/>
                        <a:ext cx="3455987" cy="2335213"/>
                      </a:xfrm>
                      <a:prstGeom prst="rect">
                        <a:avLst/>
                      </a:prstGeom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97" y="1058929"/>
            <a:ext cx="3013075" cy="233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554184" y="3625480"/>
            <a:ext cx="2141216" cy="707886"/>
            <a:chOff x="554184" y="3924456"/>
            <a:chExt cx="2141216" cy="707886"/>
          </a:xfrm>
        </p:grpSpPr>
        <p:sp>
          <p:nvSpPr>
            <p:cNvPr id="8" name="TextBox 7"/>
            <p:cNvSpPr txBox="1"/>
            <p:nvPr/>
          </p:nvSpPr>
          <p:spPr>
            <a:xfrm>
              <a:off x="554184" y="3924456"/>
              <a:ext cx="214121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Gain=  </a:t>
              </a:r>
              <a:r>
                <a:rPr lang="en-US" sz="2000" dirty="0" err="1"/>
                <a:t>Vout</a:t>
              </a:r>
              <a:r>
                <a:rPr lang="en-US" sz="2000" dirty="0"/>
                <a:t>  =  R</a:t>
              </a:r>
              <a:r>
                <a:rPr lang="en-US" sz="2000" baseline="-25000" dirty="0"/>
                <a:t>1</a:t>
              </a:r>
              <a:r>
                <a:rPr lang="en-US" sz="2000" dirty="0"/>
                <a:t> </a:t>
              </a:r>
            </a:p>
            <a:p>
              <a:r>
                <a:rPr lang="en-US" sz="2000" dirty="0"/>
                <a:t>              Vin        R</a:t>
              </a:r>
              <a:r>
                <a:rPr lang="en-US" sz="2000" baseline="-25000" dirty="0"/>
                <a:t>2</a:t>
              </a:r>
              <a:r>
                <a:rPr lang="en-US" sz="2000" dirty="0"/>
                <a:t>                              </a:t>
              </a:r>
              <a:endParaRPr lang="en-US" sz="2000" baseline="-25000" dirty="0"/>
            </a:p>
          </p:txBody>
        </p:sp>
        <p:cxnSp>
          <p:nvCxnSpPr>
            <p:cNvPr id="9" name="Straight Connector 8"/>
            <p:cNvCxnSpPr>
              <a:cxnSpLocks/>
            </p:cNvCxnSpPr>
            <p:nvPr/>
          </p:nvCxnSpPr>
          <p:spPr>
            <a:xfrm flipV="1">
              <a:off x="1315420" y="4304062"/>
              <a:ext cx="582201" cy="13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D962F9C-B340-EE83-6AE4-52B20DDE9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0112" y="4304062"/>
              <a:ext cx="278451" cy="13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6">
            <a:extLst>
              <a:ext uri="{FF2B5EF4-FFF2-40B4-BE49-F238E27FC236}">
                <a16:creationId xmlns:a16="http://schemas.microsoft.com/office/drawing/2014/main" id="{03D22AB6-CD93-8DD7-6C94-EDA48EEE7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36" y="4365032"/>
            <a:ext cx="3372202" cy="45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2000" dirty="0" err="1">
                <a:solidFill>
                  <a:schemeClr val="tx1"/>
                </a:solidFill>
              </a:rPr>
              <a:t>Vout</a:t>
            </a:r>
            <a:r>
              <a:rPr lang="en-GB" altLang="en-US" sz="2000" dirty="0">
                <a:solidFill>
                  <a:schemeClr val="tx1"/>
                </a:solidFill>
              </a:rPr>
              <a:t> = 3, Vin = 0.7*</a:t>
            </a:r>
            <a:r>
              <a:rPr lang="en-GB" altLang="en-US" sz="2000" dirty="0" err="1">
                <a:solidFill>
                  <a:schemeClr val="tx1"/>
                </a:solidFill>
              </a:rPr>
              <a:t>Mb_max</a:t>
            </a:r>
            <a:endParaRPr lang="en-US" altLang="en-US" sz="1800" dirty="0">
              <a:solidFill>
                <a:srgbClr val="7030A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start points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DF1D2D-7E6D-D8AF-A919-447AEA154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33" y="1047403"/>
            <a:ext cx="6971451" cy="36237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49F6B33-0E9D-7BC4-7795-378BC9E5020C}"/>
              </a:ext>
            </a:extLst>
          </p:cNvPr>
          <p:cNvSpPr/>
          <p:nvPr/>
        </p:nvSpPr>
        <p:spPr>
          <a:xfrm>
            <a:off x="1230284" y="3607724"/>
            <a:ext cx="798021" cy="14962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8B322B-2772-4FAC-9222-DCD91E12C807}"/>
              </a:ext>
            </a:extLst>
          </p:cNvPr>
          <p:cNvSpPr/>
          <p:nvPr/>
        </p:nvSpPr>
        <p:spPr>
          <a:xfrm>
            <a:off x="1230284" y="3909753"/>
            <a:ext cx="798021" cy="14962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497976-E951-56EB-A931-0C59007CE95B}"/>
              </a:ext>
            </a:extLst>
          </p:cNvPr>
          <p:cNvSpPr/>
          <p:nvPr/>
        </p:nvSpPr>
        <p:spPr>
          <a:xfrm>
            <a:off x="1230284" y="4145280"/>
            <a:ext cx="798021" cy="14962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02506C-2B41-5ABF-4162-163EA7DDFF19}"/>
              </a:ext>
            </a:extLst>
          </p:cNvPr>
          <p:cNvSpPr/>
          <p:nvPr/>
        </p:nvSpPr>
        <p:spPr>
          <a:xfrm>
            <a:off x="1230284" y="4416511"/>
            <a:ext cx="798021" cy="14962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FB3569-35D9-5D15-A27B-904DA46CFA74}"/>
              </a:ext>
            </a:extLst>
          </p:cNvPr>
          <p:cNvSpPr/>
          <p:nvPr/>
        </p:nvSpPr>
        <p:spPr>
          <a:xfrm>
            <a:off x="2164079" y="3607724"/>
            <a:ext cx="798021" cy="14962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7B17E9-EB0A-13FC-38C0-3AB35814FC76}"/>
              </a:ext>
            </a:extLst>
          </p:cNvPr>
          <p:cNvSpPr/>
          <p:nvPr/>
        </p:nvSpPr>
        <p:spPr>
          <a:xfrm>
            <a:off x="2164079" y="3909753"/>
            <a:ext cx="798021" cy="14962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2DD62A-E59B-76E0-C2BF-A9202CE267E9}"/>
              </a:ext>
            </a:extLst>
          </p:cNvPr>
          <p:cNvSpPr/>
          <p:nvPr/>
        </p:nvSpPr>
        <p:spPr>
          <a:xfrm>
            <a:off x="2164079" y="4145280"/>
            <a:ext cx="798021" cy="14962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782847-99DE-B88A-0F89-3579D7ACBD30}"/>
              </a:ext>
            </a:extLst>
          </p:cNvPr>
          <p:cNvSpPr/>
          <p:nvPr/>
        </p:nvSpPr>
        <p:spPr>
          <a:xfrm>
            <a:off x="2164079" y="4416511"/>
            <a:ext cx="798021" cy="14962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C5E908-0C36-D09F-168D-CFCBE5A79A4D}"/>
              </a:ext>
            </a:extLst>
          </p:cNvPr>
          <p:cNvSpPr/>
          <p:nvPr/>
        </p:nvSpPr>
        <p:spPr>
          <a:xfrm>
            <a:off x="3114500" y="3607724"/>
            <a:ext cx="798021" cy="14962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FF4119-465F-70ED-402F-8EC762875384}"/>
              </a:ext>
            </a:extLst>
          </p:cNvPr>
          <p:cNvSpPr/>
          <p:nvPr/>
        </p:nvSpPr>
        <p:spPr>
          <a:xfrm>
            <a:off x="3114500" y="3909753"/>
            <a:ext cx="798021" cy="14962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15B78A-7331-8549-82B0-5FFC87181E29}"/>
              </a:ext>
            </a:extLst>
          </p:cNvPr>
          <p:cNvSpPr/>
          <p:nvPr/>
        </p:nvSpPr>
        <p:spPr>
          <a:xfrm>
            <a:off x="3114500" y="4145280"/>
            <a:ext cx="798021" cy="14962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36675F-7539-E235-CCF7-635568C9B913}"/>
              </a:ext>
            </a:extLst>
          </p:cNvPr>
          <p:cNvSpPr/>
          <p:nvPr/>
        </p:nvSpPr>
        <p:spPr>
          <a:xfrm>
            <a:off x="3114500" y="4416511"/>
            <a:ext cx="798021" cy="14962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2814-411A-3F8A-B630-739B8F1CC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32070-895F-2BDA-C247-CD9EC8976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start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D161B-4125-26E8-38BE-6A02BB3EF1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036" y="1190783"/>
            <a:ext cx="8401928" cy="2742120"/>
          </a:xfrm>
        </p:spPr>
        <p:txBody>
          <a:bodyPr/>
          <a:lstStyle/>
          <a:p>
            <a:r>
              <a:rPr lang="en-US" sz="1800" dirty="0"/>
              <a:t>Each student has been given two of four parameters</a:t>
            </a:r>
          </a:p>
          <a:p>
            <a:pPr lvl="1"/>
            <a:r>
              <a:rPr lang="en-US" sz="1400" dirty="0"/>
              <a:t>This table is located on blackboard</a:t>
            </a:r>
          </a:p>
          <a:p>
            <a:r>
              <a:rPr lang="en-US" sz="1800" dirty="0"/>
              <a:t>Ensures unique design</a:t>
            </a:r>
          </a:p>
          <a:p>
            <a:pPr lvl="1"/>
            <a:r>
              <a:rPr lang="en-US" sz="1400" dirty="0"/>
              <a:t>Used to guarantee individual assessment</a:t>
            </a:r>
          </a:p>
          <a:p>
            <a:r>
              <a:rPr lang="en-US" sz="1800" dirty="0"/>
              <a:t>Using formula in Slides 10 you can calculate other values</a:t>
            </a:r>
          </a:p>
          <a:p>
            <a:r>
              <a:rPr lang="en-US" sz="1800" dirty="0"/>
              <a:t>Choose the other Cut-off frequency from the following limits:</a:t>
            </a:r>
          </a:p>
          <a:p>
            <a:pPr lvl="1"/>
            <a:r>
              <a:rPr lang="en-US" sz="1400" dirty="0"/>
              <a:t>Lower: 5-15Hz</a:t>
            </a:r>
          </a:p>
          <a:p>
            <a:pPr lvl="1"/>
            <a:r>
              <a:rPr lang="en-US" sz="1400" dirty="0"/>
              <a:t>Upper: 22 to 46 kHz</a:t>
            </a:r>
          </a:p>
        </p:txBody>
      </p:sp>
    </p:spTree>
    <p:extLst>
      <p:ext uri="{BB962C8B-B14F-4D97-AF65-F5344CB8AC3E}">
        <p14:creationId xmlns:p14="http://schemas.microsoft.com/office/powerpoint/2010/main" val="493909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ahoma" panose="020B0604030504040204" charset="0"/>
                <a:cs typeface="Arial" panose="020B0604020202020204" pitchFamily="34" charset="0"/>
              </a:rPr>
              <a:t>Power-Supply Decoupling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81567" y="1018716"/>
            <a:ext cx="4727643" cy="3707664"/>
          </a:xfrm>
        </p:spPr>
        <p:txBody>
          <a:bodyPr/>
          <a:lstStyle/>
          <a:p>
            <a:pPr>
              <a:defRPr/>
            </a:pPr>
            <a:r>
              <a:rPr lang="en-GB" altLang="en-US" sz="1600" dirty="0">
                <a:latin typeface="Calibri" panose="020F0502020204030204"/>
                <a:cs typeface="Calibri" panose="020F0502020204030204"/>
              </a:rPr>
              <a:t>You might think that the +/-9V supply is fixed and stable, but the supply voltage can vary a little (particularly when drawing high current).</a:t>
            </a:r>
          </a:p>
          <a:p>
            <a:pPr>
              <a:defRPr/>
            </a:pPr>
            <a:r>
              <a:rPr lang="en-GB" altLang="en-US" sz="1600" dirty="0">
                <a:latin typeface="Calibri" panose="020F0502020204030204"/>
                <a:cs typeface="Calibri" panose="020F0502020204030204"/>
              </a:rPr>
              <a:t>This can cause feedback, and in some circumstances cause very loud oscillations on the output.</a:t>
            </a:r>
          </a:p>
          <a:p>
            <a:pPr>
              <a:defRPr/>
            </a:pPr>
            <a:r>
              <a:rPr lang="en-GB" altLang="en-US" sz="1600" dirty="0">
                <a:latin typeface="Calibri" panose="020F0502020204030204"/>
                <a:cs typeface="Calibri" panose="020F0502020204030204"/>
              </a:rPr>
              <a:t>We fix this issue by using power supply decoupling, where we add a 100nF capacitor to each power supply pin.  The other end of the capacitor goes to 0V.</a:t>
            </a:r>
          </a:p>
          <a:p>
            <a:pPr>
              <a:defRPr/>
            </a:pPr>
            <a:r>
              <a:rPr lang="en-GB" altLang="en-US" sz="1600" dirty="0">
                <a:latin typeface="Calibri" panose="020F0502020204030204"/>
                <a:cs typeface="Calibri" panose="020F0502020204030204"/>
              </a:rPr>
              <a:t>When you design a PCB, this capacitor must be connected to the IC pin with the shortest possible track.</a:t>
            </a:r>
          </a:p>
          <a:p>
            <a:endParaRPr lang="en-GB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210" y="1015158"/>
            <a:ext cx="413385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Single power supply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81567" y="1132125"/>
            <a:ext cx="4886172" cy="3887136"/>
          </a:xfrm>
        </p:spPr>
        <p:txBody>
          <a:bodyPr/>
          <a:lstStyle/>
          <a:p>
            <a:r>
              <a:rPr lang="en-GB" sz="1800" dirty="0"/>
              <a:t>Up until now, we have used +/- 15V to power the amplifier</a:t>
            </a:r>
          </a:p>
          <a:p>
            <a:r>
              <a:rPr lang="en-GB" sz="1800" dirty="0"/>
              <a:t>The amplifier output will therefore go equally positive and negative</a:t>
            </a:r>
          </a:p>
          <a:p>
            <a:r>
              <a:rPr lang="en-GB" sz="1800" dirty="0"/>
              <a:t>Approximately +/-13 V for the TL071 with +/-15 supply</a:t>
            </a:r>
          </a:p>
          <a:p>
            <a:r>
              <a:rPr lang="en-GB" sz="1800" dirty="0"/>
              <a:t>It is not always convenient to have a +/- dual supply, e.g. battery-powered circuit</a:t>
            </a:r>
          </a:p>
          <a:p>
            <a:r>
              <a:rPr lang="en-GB" sz="1800" dirty="0"/>
              <a:t>There is a separate lecture that outlines single power supply operation next week</a:t>
            </a:r>
          </a:p>
        </p:txBody>
      </p:sp>
      <p:pic>
        <p:nvPicPr>
          <p:cNvPr id="4" name="Picture 4" descr="dual_suppl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739" y="1000821"/>
            <a:ext cx="3829050" cy="2871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6" descr="dual_supply_graph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680" y="3872610"/>
            <a:ext cx="2949167" cy="957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buffer – Current Amplifier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81567" y="1132125"/>
            <a:ext cx="5492459" cy="3608840"/>
          </a:xfrm>
        </p:spPr>
        <p:txBody>
          <a:bodyPr/>
          <a:lstStyle/>
          <a:p>
            <a:r>
              <a:rPr lang="en-GB" sz="1800" dirty="0"/>
              <a:t>Unity Gain buffer amplifier, voltage gain = 1, provides significant current gain</a:t>
            </a:r>
          </a:p>
          <a:p>
            <a:r>
              <a:rPr lang="en-GB" sz="1800" dirty="0"/>
              <a:t>High input impedance </a:t>
            </a:r>
          </a:p>
          <a:p>
            <a:pPr lvl="1"/>
            <a:r>
              <a:rPr lang="en-GB" dirty="0"/>
              <a:t>Does not load down source, draws minimal current</a:t>
            </a:r>
          </a:p>
          <a:p>
            <a:r>
              <a:rPr lang="en-GB" sz="1800" dirty="0"/>
              <a:t>Low output impedance</a:t>
            </a:r>
          </a:p>
          <a:p>
            <a:pPr lvl="1"/>
            <a:r>
              <a:rPr lang="en-GB" dirty="0"/>
              <a:t>Drives load like perfect voltage source</a:t>
            </a:r>
          </a:p>
          <a:p>
            <a:r>
              <a:rPr lang="en-GB" sz="1800" dirty="0"/>
              <a:t>OPA551 Provides the current to drive the speaker (8 ohm)</a:t>
            </a:r>
          </a:p>
          <a:p>
            <a:r>
              <a:rPr lang="en-GB" sz="1800" dirty="0"/>
              <a:t>The Power supply (not shown in figure) will also need decoupling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3"/>
          <a:srcRect t="-10340" b="-10340"/>
          <a:stretch>
            <a:fillRect/>
          </a:stretch>
        </p:blipFill>
        <p:spPr>
          <a:xfrm>
            <a:off x="6051327" y="1132125"/>
            <a:ext cx="2711106" cy="14871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48"/>
          <p:cNvCxnSpPr/>
          <p:nvPr/>
        </p:nvCxnSpPr>
        <p:spPr>
          <a:xfrm>
            <a:off x="2128929" y="2608559"/>
            <a:ext cx="100815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2128929" y="3179282"/>
            <a:ext cx="100815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Stereo input – mono amplifier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5743657" y="2675628"/>
            <a:ext cx="1117918" cy="913289"/>
          </a:xfrm>
          <a:prstGeom prst="triangle">
            <a:avLst/>
          </a:prstGeom>
          <a:noFill/>
          <a:ln w="57150" cmpd="sng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852919" y="1688782"/>
            <a:ext cx="816367" cy="297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</a:t>
            </a:r>
            <a:r>
              <a:rPr lang="en-US" baseline="-25000" dirty="0" err="1"/>
              <a:t>f</a:t>
            </a:r>
            <a:endParaRPr lang="en-US" baseline="-25000" dirty="0"/>
          </a:p>
        </p:txBody>
      </p:sp>
      <p:sp>
        <p:nvSpPr>
          <p:cNvPr id="41" name="Equal 40"/>
          <p:cNvSpPr/>
          <p:nvPr/>
        </p:nvSpPr>
        <p:spPr>
          <a:xfrm rot="16200000">
            <a:off x="5954869" y="963640"/>
            <a:ext cx="594337" cy="563080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164462" y="2459965"/>
            <a:ext cx="816367" cy="297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</a:t>
            </a:r>
            <a:r>
              <a:rPr lang="en-US" baseline="-25000" dirty="0" err="1"/>
              <a:t>i</a:t>
            </a:r>
            <a:endParaRPr lang="en-US" baseline="-25000" dirty="0"/>
          </a:p>
        </p:txBody>
      </p:sp>
      <p:sp>
        <p:nvSpPr>
          <p:cNvPr id="43" name="Equal 42"/>
          <p:cNvSpPr/>
          <p:nvPr/>
        </p:nvSpPr>
        <p:spPr>
          <a:xfrm rot="16200000">
            <a:off x="2406668" y="2327019"/>
            <a:ext cx="594337" cy="563080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4" name="Elbow Connector 43"/>
          <p:cNvCxnSpPr>
            <a:stCxn id="39" idx="0"/>
            <a:endCxn id="40" idx="3"/>
          </p:cNvCxnSpPr>
          <p:nvPr/>
        </p:nvCxnSpPr>
        <p:spPr>
          <a:xfrm flipH="1" flipV="1">
            <a:off x="6669286" y="1837376"/>
            <a:ext cx="89975" cy="1294897"/>
          </a:xfrm>
          <a:prstGeom prst="bentConnector3">
            <a:avLst>
              <a:gd name="adj1" fmla="val -32689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41" idx="2"/>
          </p:cNvCxnSpPr>
          <p:nvPr/>
        </p:nvCxnSpPr>
        <p:spPr>
          <a:xfrm>
            <a:off x="6417583" y="1245180"/>
            <a:ext cx="639126" cy="188709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41" idx="5"/>
          </p:cNvCxnSpPr>
          <p:nvPr/>
        </p:nvCxnSpPr>
        <p:spPr>
          <a:xfrm flipH="1">
            <a:off x="5396300" y="1245180"/>
            <a:ext cx="6901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5396300" y="1245180"/>
            <a:ext cx="0" cy="16676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581868" y="2912799"/>
            <a:ext cx="12641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5500668" y="3356181"/>
            <a:ext cx="3453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581868" y="3162796"/>
            <a:ext cx="549311" cy="337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Bias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6817044" y="3127487"/>
            <a:ext cx="7147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164462" y="3030688"/>
            <a:ext cx="816367" cy="297188"/>
          </a:xfrm>
          <a:prstGeom prst="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</a:t>
            </a:r>
            <a:r>
              <a:rPr lang="en-US" baseline="-25000" dirty="0" err="1"/>
              <a:t>i</a:t>
            </a:r>
            <a:endParaRPr lang="en-US" baseline="-25000" dirty="0"/>
          </a:p>
        </p:txBody>
      </p:sp>
      <p:sp>
        <p:nvSpPr>
          <p:cNvPr id="54" name="Equal 53"/>
          <p:cNvSpPr/>
          <p:nvPr/>
        </p:nvSpPr>
        <p:spPr>
          <a:xfrm rot="16200000">
            <a:off x="2406668" y="2897742"/>
            <a:ext cx="594337" cy="563080"/>
          </a:xfrm>
          <a:prstGeom prst="mathEqual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6" name="Straight Connector 55"/>
          <p:cNvCxnSpPr>
            <a:stCxn id="42" idx="3"/>
          </p:cNvCxnSpPr>
          <p:nvPr/>
        </p:nvCxnSpPr>
        <p:spPr>
          <a:xfrm>
            <a:off x="3980829" y="2608559"/>
            <a:ext cx="6010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3980829" y="3172136"/>
            <a:ext cx="6010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4581868" y="2608559"/>
            <a:ext cx="0" cy="5542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1681117" y="2311391"/>
            <a:ext cx="456612" cy="118884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/>
          <p:cNvCxnSpPr/>
          <p:nvPr/>
        </p:nvCxnSpPr>
        <p:spPr>
          <a:xfrm>
            <a:off x="1904588" y="3535592"/>
            <a:ext cx="0" cy="6110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1741182" y="4146627"/>
            <a:ext cx="279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1815177" y="4229257"/>
            <a:ext cx="14325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1856936" y="4326038"/>
            <a:ext cx="584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577339" y="1542349"/>
            <a:ext cx="777579" cy="5905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Phone</a:t>
            </a:r>
          </a:p>
          <a:p>
            <a:r>
              <a:rPr lang="en-US" dirty="0"/>
              <a:t>socket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11801" y="3798498"/>
            <a:ext cx="20097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Summing amplifier</a:t>
            </a:r>
          </a:p>
          <a:p>
            <a:r>
              <a:rPr lang="en-US" dirty="0"/>
              <a:t>(</a:t>
            </a:r>
            <a:r>
              <a:rPr lang="en-US" dirty="0" err="1"/>
              <a:t>Storey</a:t>
            </a:r>
            <a:r>
              <a:rPr lang="en-US" dirty="0"/>
              <a:t>, 16.4.4)</a:t>
            </a:r>
          </a:p>
        </p:txBody>
      </p:sp>
      <p:cxnSp>
        <p:nvCxnSpPr>
          <p:cNvPr id="66" name="Straight Connector 65"/>
          <p:cNvCxnSpPr/>
          <p:nvPr/>
        </p:nvCxnSpPr>
        <p:spPr>
          <a:xfrm flipH="1">
            <a:off x="5389353" y="1846916"/>
            <a:ext cx="4566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2469568" y="2011672"/>
            <a:ext cx="478626" cy="337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 +</a:t>
            </a:r>
          </a:p>
        </p:txBody>
      </p:sp>
      <p:cxnSp>
        <p:nvCxnSpPr>
          <p:cNvPr id="68" name="Straight Connector 67"/>
          <p:cNvCxnSpPr/>
          <p:nvPr/>
        </p:nvCxnSpPr>
        <p:spPr>
          <a:xfrm>
            <a:off x="5359898" y="4139233"/>
            <a:ext cx="3062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5425787" y="4215814"/>
            <a:ext cx="1769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00668" y="4292396"/>
            <a:ext cx="408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V="1">
            <a:off x="5500668" y="3327876"/>
            <a:ext cx="0" cy="811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EXCEL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 expect </a:t>
            </a:r>
            <a:r>
              <a:rPr lang="en-US" dirty="0">
                <a:highlight>
                  <a:srgbClr val="FFFF00"/>
                </a:highlight>
              </a:rPr>
              <a:t>EVERYBODY</a:t>
            </a:r>
            <a:r>
              <a:rPr lang="en-US" dirty="0"/>
              <a:t> to use EXCEL</a:t>
            </a:r>
          </a:p>
          <a:p>
            <a:pPr lvl="1"/>
            <a:r>
              <a:rPr lang="en-US" dirty="0"/>
              <a:t>This is a key tool and makes your life easier</a:t>
            </a:r>
          </a:p>
          <a:p>
            <a:r>
              <a:rPr lang="en-US" dirty="0"/>
              <a:t>Use Tabs, and have a different tab for each measurement stage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792" y="2675382"/>
            <a:ext cx="5391150" cy="16097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EXCEL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Calculation using EXCEL</a:t>
            </a:r>
          </a:p>
          <a:p>
            <a:pPr lvl="1"/>
            <a:r>
              <a:rPr lang="en-US" dirty="0"/>
              <a:t>Don’t use your calculator or lab book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6FD57C-6018-FDF5-9025-A7C1608AE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164" y="1894428"/>
            <a:ext cx="4114286" cy="24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665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Plotting Graphs - Incorrectly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90" y="1002386"/>
            <a:ext cx="3788474" cy="22922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862" y="1001208"/>
            <a:ext cx="3780473" cy="22762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9542" y="3313781"/>
            <a:ext cx="3851698" cy="18387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Plotting Graphs - Correctly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250372" y="928873"/>
            <a:ext cx="4491989" cy="38612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next?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sz="2200" dirty="0"/>
              <a:t>Ensure that you can access Proteus from your home PC</a:t>
            </a:r>
          </a:p>
          <a:p>
            <a:pPr lvl="1"/>
            <a:r>
              <a:rPr lang="en-GB" sz="1800" dirty="0"/>
              <a:t>Download and install locally</a:t>
            </a:r>
          </a:p>
          <a:p>
            <a:pPr lvl="1"/>
            <a:r>
              <a:rPr lang="en-GB" sz="1800" dirty="0" err="1"/>
              <a:t>AstonApps</a:t>
            </a:r>
            <a:endParaRPr lang="en-GB" sz="1800" dirty="0"/>
          </a:p>
          <a:p>
            <a:pPr lvl="1"/>
            <a:r>
              <a:rPr lang="en-GB" sz="1800" dirty="0"/>
              <a:t>Aston VDI system</a:t>
            </a:r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pPr lvl="1"/>
            <a:endParaRPr lang="en-GB" sz="1800" u="sng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voltage gain do I require?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Measure the output voltage from your mobile phone</a:t>
            </a:r>
          </a:p>
          <a:p>
            <a:pPr lvl="1"/>
            <a:r>
              <a:rPr lang="en-US" dirty="0"/>
              <a:t>Open the 440Hz sinewave on your phone</a:t>
            </a:r>
          </a:p>
          <a:p>
            <a:pPr lvl="1"/>
            <a:r>
              <a:rPr lang="en-US" dirty="0"/>
              <a:t>Connect your phone to the oscilloscope using appropriate connector</a:t>
            </a:r>
          </a:p>
          <a:p>
            <a:pPr lvl="1"/>
            <a:r>
              <a:rPr lang="en-US" dirty="0"/>
              <a:t>Measure </a:t>
            </a:r>
            <a:r>
              <a:rPr lang="en-US" dirty="0" err="1"/>
              <a:t>Vpp</a:t>
            </a:r>
            <a:r>
              <a:rPr lang="en-US" dirty="0"/>
              <a:t> vs. volume setting (remember maximize signal on oscilloscope display)</a:t>
            </a:r>
          </a:p>
          <a:p>
            <a:pPr lvl="1"/>
            <a:r>
              <a:rPr lang="en-US" dirty="0"/>
              <a:t>Plot in Excel. </a:t>
            </a:r>
            <a:r>
              <a:rPr lang="en-US" dirty="0" err="1"/>
              <a:t>Vpp</a:t>
            </a:r>
            <a:r>
              <a:rPr lang="en-US" dirty="0"/>
              <a:t> vs. volume setting (see next slide)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FC958-7503-1D45-454E-136DD01B0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FE97B-33DC-9C6D-4FF1-2FFAFFFF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3.5mm Audio Output</a:t>
            </a:r>
            <a:endParaRPr lang="en-GB" dirty="0"/>
          </a:p>
        </p:txBody>
      </p:sp>
      <p:pic>
        <p:nvPicPr>
          <p:cNvPr id="8" name="Picture 7" descr="A diagram of a jack&#10;&#10;AI-generated content may be incorrect.">
            <a:extLst>
              <a:ext uri="{FF2B5EF4-FFF2-40B4-BE49-F238E27FC236}">
                <a16:creationId xmlns:a16="http://schemas.microsoft.com/office/drawing/2014/main" id="{409DA578-175E-5160-AF90-9AF74F7BE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45" y="1100830"/>
            <a:ext cx="2239618" cy="35400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BC2C01-FB3A-AC6C-3103-1BE74C007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208" y="1100830"/>
            <a:ext cx="4150348" cy="2494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AA836A-A575-BD80-6ED0-146B9B9A4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845" y="1114147"/>
            <a:ext cx="2205525" cy="260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10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BCF5-9A19-232F-B555-8D2A1A759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9DD4-8386-9446-C323-5ECA90F5A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voltage gain do I require?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22A8E-35DE-2912-E7B3-B66365A9C27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Calculate Target gain</a:t>
            </a:r>
          </a:p>
          <a:p>
            <a:pPr lvl="1"/>
            <a:r>
              <a:rPr lang="en-US" dirty="0"/>
              <a:t>Assume input voltage = Mobile Phone max out * 0.7</a:t>
            </a:r>
          </a:p>
          <a:p>
            <a:pPr lvl="1"/>
            <a:r>
              <a:rPr lang="en-US" dirty="0"/>
              <a:t>Assume output voltage = 3V</a:t>
            </a:r>
            <a:r>
              <a:rPr lang="en-US" baseline="-25000" dirty="0"/>
              <a:t>pp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This is limited by the OPA551 Power amplifier (see datasheet)</a:t>
            </a:r>
          </a:p>
          <a:p>
            <a:pPr lvl="2"/>
            <a:r>
              <a:rPr lang="en-US" dirty="0"/>
              <a:t>OPA551 worst case specification is you need to operate 3Volts from each supply rail.</a:t>
            </a:r>
          </a:p>
          <a:p>
            <a:r>
              <a:rPr lang="en-US" dirty="0"/>
              <a:t>Calculate missing resister value</a:t>
            </a:r>
          </a:p>
          <a:p>
            <a:pPr lvl="1"/>
            <a:r>
              <a:rPr lang="en-US" dirty="0"/>
              <a:t>R1 or R2 depending which you were given</a:t>
            </a:r>
          </a:p>
          <a:p>
            <a:r>
              <a:rPr lang="en-US" dirty="0"/>
              <a:t>Recalculate gain with available resister</a:t>
            </a:r>
          </a:p>
          <a:p>
            <a:pPr lvl="1"/>
            <a:r>
              <a:rPr lang="en-US" dirty="0"/>
              <a:t>Find nearest available resister</a:t>
            </a:r>
          </a:p>
          <a:p>
            <a:pPr lvl="1"/>
            <a:r>
              <a:rPr lang="en-US" dirty="0"/>
              <a:t>Calculate the actual gain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797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A8BD0-151B-CF32-80F6-0D9A82A2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DC17E-6CD5-C6CE-D1E8-4ACEB0E8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 filter design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8B11E-CFA9-7827-4041-49E45FF85A9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600" dirty="0"/>
              <a:t>You now know R1, R2, and Actual Gain, G</a:t>
            </a:r>
          </a:p>
          <a:p>
            <a:r>
              <a:rPr lang="en-US" sz="1600" dirty="0"/>
              <a:t>You were given one cut-off frequency, either F</a:t>
            </a:r>
            <a:r>
              <a:rPr lang="en-US" sz="1600" baseline="-25000" dirty="0"/>
              <a:t>low </a:t>
            </a:r>
            <a:r>
              <a:rPr lang="en-US" sz="1600" dirty="0"/>
              <a:t> or </a:t>
            </a:r>
            <a:r>
              <a:rPr lang="en-US" sz="1600" dirty="0" err="1"/>
              <a:t>F</a:t>
            </a:r>
            <a:r>
              <a:rPr lang="en-US" sz="1600" baseline="-25000" dirty="0" err="1"/>
              <a:t>high</a:t>
            </a:r>
            <a:endParaRPr lang="en-US" sz="1600" dirty="0"/>
          </a:p>
          <a:p>
            <a:r>
              <a:rPr lang="en-US" sz="1600" dirty="0"/>
              <a:t>Choose the other Cut-off frequency from the following limits:</a:t>
            </a:r>
          </a:p>
          <a:p>
            <a:pPr lvl="1"/>
            <a:r>
              <a:rPr lang="en-US" sz="1400" dirty="0"/>
              <a:t>Lower: 5-15Hz</a:t>
            </a:r>
          </a:p>
          <a:p>
            <a:pPr lvl="1"/>
            <a:r>
              <a:rPr lang="en-US" sz="1400" dirty="0"/>
              <a:t>Upper: 22 to 46 kHz</a:t>
            </a:r>
          </a:p>
          <a:p>
            <a:r>
              <a:rPr lang="en-US" sz="1600" dirty="0"/>
              <a:t>Calculate C</a:t>
            </a:r>
            <a:r>
              <a:rPr lang="en-US" sz="1600" baseline="-25000" dirty="0"/>
              <a:t>1</a:t>
            </a:r>
            <a:r>
              <a:rPr lang="en-US" sz="1600" dirty="0"/>
              <a:t> and C</a:t>
            </a:r>
            <a:r>
              <a:rPr lang="en-US" sz="1600" baseline="-25000" dirty="0"/>
              <a:t>2</a:t>
            </a:r>
            <a:r>
              <a:rPr lang="en-US" sz="1600" dirty="0"/>
              <a:t> using the formula</a:t>
            </a:r>
          </a:p>
          <a:p>
            <a:r>
              <a:rPr lang="en-US" sz="1600" dirty="0"/>
              <a:t>Select the closest capacitor available</a:t>
            </a:r>
          </a:p>
          <a:p>
            <a:r>
              <a:rPr lang="en-US" sz="1600" dirty="0"/>
              <a:t>Recalculate actual F</a:t>
            </a:r>
            <a:r>
              <a:rPr lang="en-US" sz="1600" baseline="-25000" dirty="0"/>
              <a:t>low </a:t>
            </a:r>
            <a:r>
              <a:rPr lang="en-US" sz="1600" dirty="0"/>
              <a:t> and </a:t>
            </a:r>
            <a:r>
              <a:rPr lang="en-US" sz="1600" dirty="0" err="1"/>
              <a:t>F</a:t>
            </a:r>
            <a:r>
              <a:rPr lang="en-US" sz="1600" baseline="-25000" dirty="0" err="1"/>
              <a:t>high</a:t>
            </a:r>
            <a:endParaRPr lang="en-US" sz="1600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D662466-B9CB-0B6C-9220-E59EF06EC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9465" y="2571750"/>
            <a:ext cx="3198495" cy="1610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rgbClr val="E7E7FF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solidFill>
                  <a:schemeClr val="tx1"/>
                </a:solidFill>
              </a:rPr>
              <a:t>Upper cut-off frequency</a:t>
            </a:r>
          </a:p>
          <a:p>
            <a:r>
              <a:rPr lang="en-GB" altLang="en-US" sz="1800" dirty="0" err="1">
                <a:solidFill>
                  <a:srgbClr val="7030A0"/>
                </a:solidFill>
              </a:rPr>
              <a:t>f</a:t>
            </a:r>
            <a:r>
              <a:rPr lang="en-GB" altLang="en-US" sz="1800" baseline="-25000" dirty="0" err="1">
                <a:solidFill>
                  <a:srgbClr val="7030A0"/>
                </a:solidFill>
              </a:rPr>
              <a:t>u</a:t>
            </a:r>
            <a:r>
              <a:rPr lang="en-GB" altLang="en-US" sz="1800" dirty="0">
                <a:solidFill>
                  <a:srgbClr val="7030A0"/>
                </a:solidFill>
              </a:rPr>
              <a:t> = 1/(2</a:t>
            </a:r>
            <a:r>
              <a:rPr lang="en-GB" altLang="en-US" sz="1800" dirty="0">
                <a:solidFill>
                  <a:srgbClr val="7030A0"/>
                </a:solidFill>
                <a:latin typeface="Symbol" panose="05050102010706020507" pitchFamily="2" charset="2"/>
              </a:rPr>
              <a:t>p</a:t>
            </a:r>
            <a:r>
              <a:rPr lang="en-GB" altLang="en-US" sz="1800" dirty="0">
                <a:solidFill>
                  <a:srgbClr val="7030A0"/>
                </a:solidFill>
              </a:rPr>
              <a:t>R</a:t>
            </a:r>
            <a:r>
              <a:rPr lang="en-GB" altLang="en-US" sz="1800" baseline="-25000" dirty="0">
                <a:solidFill>
                  <a:srgbClr val="7030A0"/>
                </a:solidFill>
              </a:rPr>
              <a:t>1</a:t>
            </a:r>
            <a:r>
              <a:rPr lang="en-GB" altLang="en-US" sz="1800" dirty="0">
                <a:solidFill>
                  <a:srgbClr val="7030A0"/>
                </a:solidFill>
              </a:rPr>
              <a:t>C</a:t>
            </a:r>
            <a:r>
              <a:rPr lang="en-GB" altLang="en-US" sz="1800" baseline="-25000" dirty="0">
                <a:solidFill>
                  <a:srgbClr val="7030A0"/>
                </a:solidFill>
              </a:rPr>
              <a:t>1</a:t>
            </a:r>
            <a:r>
              <a:rPr lang="en-GB" altLang="en-US" sz="1800" dirty="0">
                <a:solidFill>
                  <a:srgbClr val="7030A0"/>
                </a:solidFill>
              </a:rPr>
              <a:t>)</a:t>
            </a:r>
          </a:p>
          <a:p>
            <a:pPr eaLnBrk="1" hangingPunct="1"/>
            <a:endParaRPr lang="en-GB" altLang="en-US" sz="1100" dirty="0">
              <a:solidFill>
                <a:schemeClr val="tx1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solidFill>
                  <a:schemeClr val="tx1"/>
                </a:solidFill>
              </a:rPr>
              <a:t>Lower cut-off frequency</a:t>
            </a:r>
          </a:p>
          <a:p>
            <a:pPr eaLnBrk="1" hangingPunct="1"/>
            <a:r>
              <a:rPr lang="en-GB" altLang="en-US" sz="1800" dirty="0" err="1">
                <a:solidFill>
                  <a:srgbClr val="7030A0"/>
                </a:solidFill>
              </a:rPr>
              <a:t>f</a:t>
            </a:r>
            <a:r>
              <a:rPr lang="en-GB" altLang="en-US" sz="1800" baseline="-25000" dirty="0" err="1">
                <a:solidFill>
                  <a:srgbClr val="7030A0"/>
                </a:solidFill>
              </a:rPr>
              <a:t>l</a:t>
            </a:r>
            <a:r>
              <a:rPr lang="en-GB" altLang="en-US" sz="1800" dirty="0">
                <a:solidFill>
                  <a:srgbClr val="7030A0"/>
                </a:solidFill>
              </a:rPr>
              <a:t> = 1/(2</a:t>
            </a:r>
            <a:r>
              <a:rPr lang="en-GB" altLang="en-US" sz="1800" dirty="0">
                <a:solidFill>
                  <a:srgbClr val="7030A0"/>
                </a:solidFill>
                <a:latin typeface="Symbol" panose="05050102010706020507" pitchFamily="2" charset="2"/>
              </a:rPr>
              <a:t>p</a:t>
            </a:r>
            <a:r>
              <a:rPr lang="en-GB" altLang="en-US" sz="1800" dirty="0">
                <a:solidFill>
                  <a:srgbClr val="7030A0"/>
                </a:solidFill>
              </a:rPr>
              <a:t>R</a:t>
            </a:r>
            <a:r>
              <a:rPr lang="en-GB" altLang="en-US" sz="1800" baseline="-25000" dirty="0">
                <a:solidFill>
                  <a:srgbClr val="7030A0"/>
                </a:solidFill>
              </a:rPr>
              <a:t>2</a:t>
            </a:r>
            <a:r>
              <a:rPr lang="en-GB" altLang="en-US" sz="1800" dirty="0">
                <a:solidFill>
                  <a:srgbClr val="7030A0"/>
                </a:solidFill>
              </a:rPr>
              <a:t>C</a:t>
            </a:r>
            <a:r>
              <a:rPr lang="en-GB" altLang="en-US" sz="1800" baseline="-25000" dirty="0">
                <a:solidFill>
                  <a:srgbClr val="7030A0"/>
                </a:solidFill>
              </a:rPr>
              <a:t>2</a:t>
            </a:r>
            <a:r>
              <a:rPr lang="en-GB" altLang="en-US" sz="1800" dirty="0">
                <a:solidFill>
                  <a:srgbClr val="7030A0"/>
                </a:solidFill>
              </a:rPr>
              <a:t>)</a:t>
            </a:r>
            <a:endParaRPr lang="en-US" altLang="en-US" sz="1800" dirty="0">
              <a:solidFill>
                <a:srgbClr val="7030A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755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3A7E8-B863-18C8-1C03-1262317B3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37" y="1314548"/>
            <a:ext cx="8017630" cy="190146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tracking and Sign-off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81567" y="1132126"/>
            <a:ext cx="8401928" cy="903510"/>
          </a:xfrm>
        </p:spPr>
        <p:txBody>
          <a:bodyPr/>
          <a:lstStyle/>
          <a:p>
            <a:r>
              <a:rPr lang="en-US" sz="1600" dirty="0"/>
              <a:t>This is your first individual project - it will need you to plan your time</a:t>
            </a:r>
          </a:p>
          <a:p>
            <a:r>
              <a:rPr lang="en-US" sz="1600" dirty="0"/>
              <a:t>To help us track your progress and provide support if needed, we will sign you off after each of the following stages:</a:t>
            </a:r>
          </a:p>
        </p:txBody>
      </p:sp>
      <p:sp>
        <p:nvSpPr>
          <p:cNvPr id="4" name="Content Placeholder 2"/>
          <p:cNvSpPr txBox="1"/>
          <p:nvPr/>
        </p:nvSpPr>
        <p:spPr>
          <a:xfrm>
            <a:off x="5023262" y="2035635"/>
            <a:ext cx="3918858" cy="2524491"/>
          </a:xfrm>
          <a:prstGeom prst="rect">
            <a:avLst/>
          </a:prstGeom>
        </p:spPr>
        <p:txBody>
          <a:bodyPr vert="horz"/>
          <a:lstStyle>
            <a:lvl1pPr marL="285750" marR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3008F"/>
              </a:buClr>
              <a:buSzTx/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4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14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14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Final Schematic check</a:t>
            </a:r>
          </a:p>
          <a:p>
            <a:pPr lvl="1"/>
            <a:r>
              <a:rPr lang="en-US" dirty="0"/>
              <a:t>Final PCB Check</a:t>
            </a:r>
          </a:p>
          <a:p>
            <a:pPr lvl="1"/>
            <a:r>
              <a:rPr lang="en-US" dirty="0"/>
              <a:t>PCB Soldering Check</a:t>
            </a:r>
          </a:p>
          <a:p>
            <a:pPr lvl="1"/>
            <a:r>
              <a:rPr lang="en-US" dirty="0"/>
              <a:t>Final Test and Measurement</a:t>
            </a:r>
          </a:p>
          <a:p>
            <a:pPr lvl="1"/>
            <a:r>
              <a:rPr lang="en-US" dirty="0"/>
              <a:t>Final Audio Check using Speaker</a:t>
            </a:r>
          </a:p>
          <a:p>
            <a:endParaRPr lang="en-GB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374918" y="2023755"/>
            <a:ext cx="4648343" cy="2227610"/>
          </a:xfrm>
          <a:prstGeom prst="rect">
            <a:avLst/>
          </a:prstGeom>
        </p:spPr>
        <p:txBody>
          <a:bodyPr vert="horz"/>
          <a:lstStyle>
            <a:lvl1pPr marL="285750" marR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3008F"/>
              </a:buClr>
              <a:buSzTx/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4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14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14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Mobile Phone characterization</a:t>
            </a:r>
          </a:p>
          <a:p>
            <a:pPr lvl="1"/>
            <a:r>
              <a:rPr lang="en-US" dirty="0"/>
              <a:t>Design calculations</a:t>
            </a:r>
          </a:p>
          <a:p>
            <a:pPr lvl="1"/>
            <a:r>
              <a:rPr lang="en-US" dirty="0"/>
              <a:t>Simulation using dual power supply</a:t>
            </a:r>
          </a:p>
          <a:p>
            <a:pPr lvl="1"/>
            <a:r>
              <a:rPr lang="en-US" dirty="0"/>
              <a:t>Breadboard using a dual power supply</a:t>
            </a:r>
          </a:p>
          <a:p>
            <a:pPr lvl="1"/>
            <a:r>
              <a:rPr lang="en-US" dirty="0"/>
              <a:t>Simulation using a single power supply </a:t>
            </a:r>
          </a:p>
          <a:p>
            <a:pPr lvl="1"/>
            <a:r>
              <a:rPr lang="en-US" dirty="0"/>
              <a:t>Breadboard using a single power supply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forget!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81567" y="1132125"/>
            <a:ext cx="8401928" cy="3628718"/>
          </a:xfrm>
        </p:spPr>
        <p:txBody>
          <a:bodyPr/>
          <a:lstStyle/>
          <a:p>
            <a:r>
              <a:rPr lang="en-GB" dirty="0"/>
              <a:t>Read the project brief document</a:t>
            </a:r>
          </a:p>
          <a:p>
            <a:r>
              <a:rPr lang="en-GB" dirty="0"/>
              <a:t>Look at the report template</a:t>
            </a:r>
          </a:p>
          <a:p>
            <a:pPr lvl="1"/>
            <a:r>
              <a:rPr lang="en-GB" dirty="0"/>
              <a:t>Complete this on a weekly basis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15241" y="3111093"/>
            <a:ext cx="4101627" cy="602218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15241" y="1983884"/>
            <a:ext cx="5140170" cy="609624"/>
          </a:xfrm>
        </p:spPr>
        <p:txBody>
          <a:bodyPr/>
          <a:lstStyle/>
          <a:p>
            <a:r>
              <a:rPr lang="en-US" dirty="0"/>
              <a:t>EI1EL2</a:t>
            </a:r>
            <a:br>
              <a:rPr lang="en-US" dirty="0"/>
            </a:br>
            <a:r>
              <a:rPr lang="en-US" dirty="0"/>
              <a:t>Electronics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Questions?</a:t>
            </a:r>
            <a:endParaRPr lang="en-GB" dirty="0"/>
          </a:p>
        </p:txBody>
      </p:sp>
      <p:pic>
        <p:nvPicPr>
          <p:cNvPr id="4" name="Picture 3" descr="Grammar &amp; Usage - Excelsior College OWL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112" y="1329690"/>
            <a:ext cx="3148510" cy="31485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c0aeff8a-c650-4e31-8966-811001aba91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10522</TotalTime>
  <Words>2145</Words>
  <Application>Microsoft Office PowerPoint</Application>
  <PresentationFormat>On-screen Show (16:9)</PresentationFormat>
  <Paragraphs>295</Paragraphs>
  <Slides>29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MS PGothic</vt:lpstr>
      <vt:lpstr>American Typewriter</vt:lpstr>
      <vt:lpstr>Arial</vt:lpstr>
      <vt:lpstr>Calibri</vt:lpstr>
      <vt:lpstr>Symbol</vt:lpstr>
      <vt:lpstr>Tahoma</vt:lpstr>
      <vt:lpstr>Wingdings</vt:lpstr>
      <vt:lpstr>Office Theme</vt:lpstr>
      <vt:lpstr>Picture</vt:lpstr>
      <vt:lpstr>EI1EL2 Electronics 2</vt:lpstr>
      <vt:lpstr>Your Task</vt:lpstr>
      <vt:lpstr>Detailed Design</vt:lpstr>
      <vt:lpstr>Why are we doing this???</vt:lpstr>
      <vt:lpstr>Objectives and Learning Outcomes</vt:lpstr>
      <vt:lpstr>Assessment</vt:lpstr>
      <vt:lpstr>Top-level system or block diagram</vt:lpstr>
      <vt:lpstr>Gain</vt:lpstr>
      <vt:lpstr>Active Bandpass filter</vt:lpstr>
      <vt:lpstr>Design start points</vt:lpstr>
      <vt:lpstr>Design start points</vt:lpstr>
      <vt:lpstr>Power-Supply Decoupling</vt:lpstr>
      <vt:lpstr>Single power supply operation</vt:lpstr>
      <vt:lpstr>Voltage buffer – Current Amplifier</vt:lpstr>
      <vt:lpstr>Stereo input – mono amplifier</vt:lpstr>
      <vt:lpstr>USE EXCEL</vt:lpstr>
      <vt:lpstr>USE EXCEL</vt:lpstr>
      <vt:lpstr>Plotting Graphs - Incorrectly</vt:lpstr>
      <vt:lpstr>Plotting Graphs - Correctly</vt:lpstr>
      <vt:lpstr>What next?</vt:lpstr>
      <vt:lpstr>What voltage gain do I require?</vt:lpstr>
      <vt:lpstr>3.5mm Audio Output</vt:lpstr>
      <vt:lpstr>What voltage gain do I require?</vt:lpstr>
      <vt:lpstr>Active filter design</vt:lpstr>
      <vt:lpstr>Schedule</vt:lpstr>
      <vt:lpstr>Progress tracking and Sign-off</vt:lpstr>
      <vt:lpstr>Don’t forget!</vt:lpstr>
      <vt:lpstr>EI1EL2 Electronics 2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Diana</dc:creator>
  <cp:lastModifiedBy>Isaac Adjei (Student)</cp:lastModifiedBy>
  <cp:revision>305</cp:revision>
  <dcterms:created xsi:type="dcterms:W3CDTF">2010-04-12T23:12:00Z</dcterms:created>
  <dcterms:modified xsi:type="dcterms:W3CDTF">2026-01-22T05:20:56Z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  <property fmtid="{D5CDD505-2E9C-101B-9397-08002B2CF9AE}" pid="3" name="ICV">
    <vt:lpwstr>B80C5962C1FD405BA990C9F8D0B29095</vt:lpwstr>
  </property>
  <property fmtid="{D5CDD505-2E9C-101B-9397-08002B2CF9AE}" pid="4" name="KSOProductBuildVer">
    <vt:lpwstr>2057-11.2.0.11417</vt:lpwstr>
  </property>
</Properties>
</file>